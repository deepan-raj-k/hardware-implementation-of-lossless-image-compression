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67" r:id="rId2"/>
    <p:sldId id="262" r:id="rId3"/>
    <p:sldId id="268" r:id="rId4"/>
    <p:sldId id="283" r:id="rId5"/>
    <p:sldId id="275" r:id="rId6"/>
    <p:sldId id="279" r:id="rId7"/>
    <p:sldId id="277" r:id="rId8"/>
    <p:sldId id="272" r:id="rId9"/>
    <p:sldId id="270" r:id="rId10"/>
    <p:sldId id="271" r:id="rId11"/>
    <p:sldId id="287" r:id="rId12"/>
    <p:sldId id="280" r:id="rId13"/>
    <p:sldId id="281" r:id="rId14"/>
    <p:sldId id="282" r:id="rId15"/>
    <p:sldId id="285" r:id="rId16"/>
    <p:sldId id="264" r:id="rId17"/>
    <p:sldId id="284" r:id="rId18"/>
    <p:sldId id="286" r:id="rId19"/>
    <p:sldId id="265" r:id="rId20"/>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25400"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25400"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25400"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25400"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25400"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25400"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3175" cap="flat">
              <a:noFill/>
              <a:miter lim="400000"/>
            </a:ln>
          </a:left>
          <a:right>
            <a:ln w="3175" cap="flat">
              <a:noFill/>
              <a:miter lim="400000"/>
            </a:ln>
          </a:right>
          <a:top>
            <a:ln w="3175" cap="flat">
              <a:noFill/>
              <a:miter lim="400000"/>
            </a:ln>
          </a:top>
          <a:bottom>
            <a:ln w="3175" cap="flat">
              <a:noFill/>
              <a:miter lim="400000"/>
            </a:ln>
          </a:bottom>
          <a:insideH>
            <a:ln w="3175" cap="flat">
              <a:noFill/>
              <a:miter lim="400000"/>
            </a:ln>
          </a:insideH>
          <a:insideV>
            <a:ln w="3175"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3175" cap="flat">
              <a:noFill/>
              <a:miter lim="400000"/>
            </a:ln>
          </a:left>
          <a:right>
            <a:ln w="3175" cap="flat">
              <a:noFill/>
              <a:miter lim="400000"/>
            </a:ln>
          </a:right>
          <a:top>
            <a:ln w="3175" cap="flat">
              <a:noFill/>
              <a:miter lim="400000"/>
            </a:ln>
          </a:top>
          <a:bottom>
            <a:ln w="3175" cap="flat">
              <a:noFill/>
              <a:miter lim="400000"/>
            </a:ln>
          </a:bottom>
          <a:insideH>
            <a:ln w="3175" cap="flat">
              <a:noFill/>
              <a:miter lim="400000"/>
            </a:ln>
          </a:insideH>
          <a:insideV>
            <a:ln w="3175" cap="flat">
              <a:noFill/>
              <a:miter lim="400000"/>
            </a:ln>
          </a:insideV>
        </a:tcBdr>
        <a:fill>
          <a:solidFill>
            <a:schemeClr val="accent1"/>
          </a:solidFill>
        </a:fill>
      </a:tcStyle>
    </a:firstCol>
    <a:lastRow>
      <a:tcTxStyle b="on" i="off">
        <a:fontRef idx="major">
          <a:srgbClr val="000000"/>
        </a:fontRef>
        <a:srgbClr val="000000"/>
      </a:tcTxStyle>
      <a:tcStyle>
        <a:tcBdr>
          <a:left>
            <a:ln w="3175" cap="flat">
              <a:noFill/>
              <a:miter lim="400000"/>
            </a:ln>
          </a:left>
          <a:right>
            <a:ln w="3175" cap="flat">
              <a:noFill/>
              <a:miter lim="400000"/>
            </a:ln>
          </a:right>
          <a:top>
            <a:ln w="38100" cap="flat">
              <a:solidFill>
                <a:srgbClr val="000000"/>
              </a:solidFill>
              <a:prstDash val="solid"/>
              <a:round/>
            </a:ln>
          </a:top>
          <a:bottom>
            <a:ln w="12700" cap="flat">
              <a:solidFill>
                <a:srgbClr val="000000"/>
              </a:solidFill>
              <a:prstDash val="solid"/>
              <a:round/>
            </a:ln>
          </a:bottom>
          <a:insideH>
            <a:ln w="3175" cap="flat">
              <a:noFill/>
              <a:miter lim="400000"/>
            </a:ln>
          </a:insideH>
          <a:insideV>
            <a:ln w="3175" cap="flat">
              <a:noFill/>
              <a:miter lim="400000"/>
            </a:ln>
          </a:insideV>
        </a:tcBdr>
        <a:fill>
          <a:solidFill>
            <a:srgbClr val="FFFFFF"/>
          </a:solidFill>
        </a:fill>
      </a:tcStyle>
    </a:lastRow>
    <a:firstRow>
      <a:tcTxStyle b="on" i="off">
        <a:fontRef idx="major">
          <a:srgbClr val="FFFFFF"/>
        </a:fontRef>
        <a:srgbClr val="FFFFFF"/>
      </a:tcTxStyle>
      <a:tcStyle>
        <a:tcBdr>
          <a:left>
            <a:ln w="3175" cap="flat">
              <a:noFill/>
              <a:miter lim="400000"/>
            </a:ln>
          </a:left>
          <a:right>
            <a:ln w="3175" cap="flat">
              <a:noFill/>
              <a:miter lim="400000"/>
            </a:ln>
          </a:right>
          <a:top>
            <a:ln w="12700" cap="flat">
              <a:solidFill>
                <a:srgbClr val="000000"/>
              </a:solidFill>
              <a:prstDash val="solid"/>
              <a:round/>
            </a:ln>
          </a:top>
          <a:bottom>
            <a:ln w="12700" cap="flat">
              <a:solidFill>
                <a:srgbClr val="000000"/>
              </a:solidFill>
              <a:prstDash val="solid"/>
              <a:round/>
            </a:ln>
          </a:bottom>
          <a:insideH>
            <a:ln w="3175" cap="flat">
              <a:noFill/>
              <a:miter lim="400000"/>
            </a:ln>
          </a:insideH>
          <a:insideV>
            <a:ln w="3175"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25400"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25400"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175" cap="flat">
              <a:solidFill>
                <a:srgbClr val="000000"/>
              </a:solidFill>
              <a:prstDash val="solid"/>
              <a:round/>
            </a:ln>
          </a:top>
          <a:bottom>
            <a:ln w="3175"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175" cap="flat">
              <a:solidFill>
                <a:srgbClr val="000000"/>
              </a:solidFill>
              <a:prstDash val="solid"/>
              <a:round/>
            </a:ln>
          </a:top>
          <a:bottom>
            <a:ln w="3175"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8100" cap="flat">
              <a:solidFill>
                <a:srgbClr val="000000"/>
              </a:solidFill>
              <a:prstDash val="solid"/>
              <a:round/>
            </a:ln>
          </a:top>
          <a:bottom>
            <a:ln w="3175"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noFill/>
        </a:fill>
      </a:tcStyle>
    </a:lastRow>
    <a:firstRow>
      <a:tcTxStyle b="on" i="off">
        <a:fontRef idx="maj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175" cap="flat">
              <a:solidFill>
                <a:srgbClr val="000000"/>
              </a:solidFill>
              <a:prstDash val="solid"/>
              <a:round/>
            </a:ln>
          </a:top>
          <a:bottom>
            <a:ln w="12700"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noFill/>
        </a:fill>
      </a:tcStyle>
    </a:firstRow>
  </a:tblStyle>
  <a:tblStyle styleId="{8F44A2F1-9E1F-4B54-A3A2-5F16C0AD49E2}" styleName="">
    <a:tblBg/>
    <a:wholeTbl>
      <a:tcTxStyle b="off" i="off">
        <a:fontRef idx="minor">
          <a:srgbClr val="000000"/>
        </a:fontRef>
        <a:srgbClr val="000000"/>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25400"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25400"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firstRow>
  </a:tblStyle>
  <a:tblStyle styleId="{D51ADE6A-740E-44AE-83CC-AE7238B6C88D}" styleName="">
    <a:tblBg/>
    <a:wholeTbl>
      <a:tcTxStyle b="off" i="off">
        <a:fontRef idx="minor">
          <a:srgbClr val="000000"/>
        </a:fontRef>
        <a:srgbClr val="000000"/>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25400"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25400"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firstRow>
  </a:tblStyle>
  <a:tblStyle styleId="{4A9BC294-FFE2-49D5-8D69-9E1BD2C41BD5}" styleName="">
    <a:tblBg/>
    <a:wholeTbl>
      <a:tcTxStyle b="off" i="off">
        <a:fontRef idx="min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175" cap="flat">
              <a:solidFill>
                <a:srgbClr val="000000"/>
              </a:solidFill>
              <a:prstDash val="solid"/>
              <a:round/>
            </a:ln>
          </a:top>
          <a:bottom>
            <a:ln w="3175"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ff" i="off">
        <a:fontRef idx="min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175" cap="flat">
              <a:solidFill>
                <a:srgbClr val="000000"/>
              </a:solidFill>
              <a:prstDash val="solid"/>
              <a:round/>
            </a:ln>
          </a:top>
          <a:bottom>
            <a:ln w="3175"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8100" cap="flat">
              <a:solidFill>
                <a:srgbClr val="000000"/>
              </a:solidFill>
              <a:prstDash val="solid"/>
              <a:round/>
            </a:ln>
          </a:top>
          <a:bottom>
            <a:ln w="3175"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noFill/>
        </a:fill>
      </a:tcStyle>
    </a:lastRow>
    <a:firstRow>
      <a:tcTxStyle b="on" i="off">
        <a:fontRef idx="min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175" cap="flat">
              <a:solidFill>
                <a:srgbClr val="000000"/>
              </a:solidFill>
              <a:prstDash val="solid"/>
              <a:round/>
            </a:ln>
          </a:top>
          <a:bottom>
            <a:ln w="12700"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58" d="100"/>
          <a:sy n="58" d="100"/>
        </p:scale>
        <p:origin x="14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1733973" latinLnBrk="0">
      <a:defRPr sz="2000">
        <a:latin typeface="+mj-lt"/>
        <a:ea typeface="+mj-ea"/>
        <a:cs typeface="+mj-cs"/>
        <a:sym typeface="Calibri"/>
      </a:defRPr>
    </a:lvl1pPr>
    <a:lvl2pPr indent="228600" defTabSz="1733973" latinLnBrk="0">
      <a:defRPr sz="2000">
        <a:latin typeface="+mj-lt"/>
        <a:ea typeface="+mj-ea"/>
        <a:cs typeface="+mj-cs"/>
        <a:sym typeface="Calibri"/>
      </a:defRPr>
    </a:lvl2pPr>
    <a:lvl3pPr indent="457200" defTabSz="1733973" latinLnBrk="0">
      <a:defRPr sz="2000">
        <a:latin typeface="+mj-lt"/>
        <a:ea typeface="+mj-ea"/>
        <a:cs typeface="+mj-cs"/>
        <a:sym typeface="Calibri"/>
      </a:defRPr>
    </a:lvl3pPr>
    <a:lvl4pPr indent="685800" defTabSz="1733973" latinLnBrk="0">
      <a:defRPr sz="2000">
        <a:latin typeface="+mj-lt"/>
        <a:ea typeface="+mj-ea"/>
        <a:cs typeface="+mj-cs"/>
        <a:sym typeface="Calibri"/>
      </a:defRPr>
    </a:lvl4pPr>
    <a:lvl5pPr indent="914400" defTabSz="1733973" latinLnBrk="0">
      <a:defRPr sz="2000">
        <a:latin typeface="+mj-lt"/>
        <a:ea typeface="+mj-ea"/>
        <a:cs typeface="+mj-cs"/>
        <a:sym typeface="Calibri"/>
      </a:defRPr>
    </a:lvl5pPr>
    <a:lvl6pPr indent="1143000" defTabSz="1733973" latinLnBrk="0">
      <a:defRPr sz="2000">
        <a:latin typeface="+mj-lt"/>
        <a:ea typeface="+mj-ea"/>
        <a:cs typeface="+mj-cs"/>
        <a:sym typeface="Calibri"/>
      </a:defRPr>
    </a:lvl6pPr>
    <a:lvl7pPr indent="1371600" defTabSz="1733973" latinLnBrk="0">
      <a:defRPr sz="2000">
        <a:latin typeface="+mj-lt"/>
        <a:ea typeface="+mj-ea"/>
        <a:cs typeface="+mj-cs"/>
        <a:sym typeface="Calibri"/>
      </a:defRPr>
    </a:lvl7pPr>
    <a:lvl8pPr indent="1600200" defTabSz="1733973" latinLnBrk="0">
      <a:defRPr sz="2000">
        <a:latin typeface="+mj-lt"/>
        <a:ea typeface="+mj-ea"/>
        <a:cs typeface="+mj-cs"/>
        <a:sym typeface="Calibri"/>
      </a:defRPr>
    </a:lvl8pPr>
    <a:lvl9pPr indent="1828800" defTabSz="1733973" latinLnBrk="0">
      <a:defRPr sz="20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prstGeom prst="rect">
            <a:avLst/>
          </a:prstGeom>
        </p:spPr>
        <p:txBody>
          <a:bodyPr/>
          <a:lstStyle/>
          <a:p>
            <a:r>
              <a:t>Title Text</a:t>
            </a:r>
          </a:p>
        </p:txBody>
      </p:sp>
      <p:sp>
        <p:nvSpPr>
          <p:cNvPr id="12" name="Body Level One…"/>
          <p:cNvSpPr txBox="1">
            <a:spLocks noGrp="1"/>
          </p:cNvSpPr>
          <p:nvPr>
            <p:ph type="body" sz="quarter"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xfrm>
            <a:off x="2113279" y="2353309"/>
            <a:ext cx="8778242" cy="914401"/>
          </a:xfrm>
          <a:prstGeom prst="rect">
            <a:avLst/>
          </a:prstGeom>
        </p:spPr>
        <p:txBody>
          <a:bodyPr/>
          <a:lstStyle/>
          <a:p>
            <a:r>
              <a:t>Title Text</a:t>
            </a:r>
          </a:p>
        </p:txBody>
      </p:sp>
      <p:sp>
        <p:nvSpPr>
          <p:cNvPr id="21" name="Body Level One…"/>
          <p:cNvSpPr txBox="1">
            <a:spLocks noGrp="1"/>
          </p:cNvSpPr>
          <p:nvPr>
            <p:ph type="body" sz="half" idx="1"/>
          </p:nvPr>
        </p:nvSpPr>
        <p:spPr>
          <a:xfrm>
            <a:off x="2113279" y="3413760"/>
            <a:ext cx="8778242" cy="3620772"/>
          </a:xfrm>
          <a:prstGeom prst="rect">
            <a:avLst/>
          </a:prstGeom>
        </p:spPr>
        <p:txBody>
          <a:bodyPr/>
          <a:lstStyle>
            <a:lvl1pPr marL="364331" indent="-364331" algn="just">
              <a:lnSpc>
                <a:spcPct val="150000"/>
              </a:lnSpc>
              <a:spcBef>
                <a:spcPts val="0"/>
              </a:spcBef>
              <a:buSzPct val="100000"/>
              <a:buFont typeface="Arial"/>
              <a:buChar char="•"/>
              <a:defRPr sz="3400">
                <a:solidFill>
                  <a:srgbClr val="000000"/>
                </a:solidFill>
                <a:latin typeface="+mn-lt"/>
                <a:ea typeface="+mn-ea"/>
                <a:cs typeface="+mn-cs"/>
                <a:sym typeface="Times New Roman"/>
              </a:defRPr>
            </a:lvl1pPr>
            <a:lvl2pPr marL="804182" indent="-346982" algn="just">
              <a:lnSpc>
                <a:spcPct val="150000"/>
              </a:lnSpc>
              <a:spcBef>
                <a:spcPts val="0"/>
              </a:spcBef>
              <a:buSzPct val="100000"/>
              <a:buFont typeface="Arial"/>
              <a:buChar char="–"/>
              <a:defRPr sz="3400">
                <a:solidFill>
                  <a:srgbClr val="000000"/>
                </a:solidFill>
                <a:latin typeface="+mn-lt"/>
                <a:ea typeface="+mn-ea"/>
                <a:cs typeface="+mn-cs"/>
                <a:sym typeface="Times New Roman"/>
              </a:defRPr>
            </a:lvl2pPr>
            <a:lvl3pPr marL="1238250" indent="-323850" algn="just">
              <a:lnSpc>
                <a:spcPct val="150000"/>
              </a:lnSpc>
              <a:spcBef>
                <a:spcPts val="0"/>
              </a:spcBef>
              <a:buSzPct val="100000"/>
              <a:buFont typeface="Arial"/>
              <a:buChar char="•"/>
              <a:defRPr sz="3400">
                <a:solidFill>
                  <a:srgbClr val="000000"/>
                </a:solidFill>
                <a:latin typeface="+mn-lt"/>
                <a:ea typeface="+mn-ea"/>
                <a:cs typeface="+mn-cs"/>
                <a:sym typeface="Times New Roman"/>
              </a:defRPr>
            </a:lvl3pPr>
            <a:lvl4pPr marL="1760220" indent="-388620" algn="just">
              <a:lnSpc>
                <a:spcPct val="150000"/>
              </a:lnSpc>
              <a:spcBef>
                <a:spcPts val="0"/>
              </a:spcBef>
              <a:buSzPct val="100000"/>
              <a:buFont typeface="Arial"/>
              <a:buChar char="–"/>
              <a:defRPr sz="3400">
                <a:solidFill>
                  <a:srgbClr val="000000"/>
                </a:solidFill>
                <a:latin typeface="+mn-lt"/>
                <a:ea typeface="+mn-ea"/>
                <a:cs typeface="+mn-cs"/>
                <a:sym typeface="Times New Roman"/>
              </a:defRPr>
            </a:lvl4pPr>
            <a:lvl5pPr marL="2217420" indent="-388620" algn="just">
              <a:lnSpc>
                <a:spcPct val="150000"/>
              </a:lnSpc>
              <a:spcBef>
                <a:spcPts val="0"/>
              </a:spcBef>
              <a:buSzPct val="100000"/>
              <a:buFont typeface="Arial"/>
              <a:buChar char="»"/>
              <a:defRPr sz="3400">
                <a:solidFill>
                  <a:srgbClr val="000000"/>
                </a:solidFill>
                <a:latin typeface="+mn-lt"/>
                <a:ea typeface="+mn-ea"/>
                <a:cs typeface="+mn-cs"/>
                <a:sym typeface="Times New Roman"/>
              </a:defRPr>
            </a:lvl5p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2396066" y="5659121"/>
            <a:ext cx="8290562" cy="1089660"/>
          </a:xfrm>
          <a:prstGeom prst="rect">
            <a:avLst/>
          </a:prstGeom>
        </p:spPr>
        <p:txBody>
          <a:bodyPr anchor="t"/>
          <a:lstStyle>
            <a:lvl1pPr algn="l">
              <a:defRPr sz="7200" b="1" cap="all"/>
            </a:lvl1pPr>
          </a:lstStyle>
          <a:p>
            <a:r>
              <a:t>Title Text</a:t>
            </a:r>
          </a:p>
        </p:txBody>
      </p:sp>
      <p:sp>
        <p:nvSpPr>
          <p:cNvPr id="30" name="Body Level One…"/>
          <p:cNvSpPr txBox="1">
            <a:spLocks noGrp="1"/>
          </p:cNvSpPr>
          <p:nvPr>
            <p:ph type="body" sz="quarter" idx="1"/>
          </p:nvPr>
        </p:nvSpPr>
        <p:spPr>
          <a:xfrm>
            <a:off x="2396066" y="4458970"/>
            <a:ext cx="8290562" cy="1200150"/>
          </a:xfrm>
          <a:prstGeom prst="rect">
            <a:avLst/>
          </a:prstGeom>
        </p:spPr>
        <p:txBody>
          <a:bodyPr anchor="b"/>
          <a:lstStyle>
            <a:lvl1pPr algn="l">
              <a:spcBef>
                <a:spcPts val="900"/>
              </a:spcBef>
              <a:defRPr sz="3400"/>
            </a:lvl1pPr>
            <a:lvl2pPr algn="l">
              <a:spcBef>
                <a:spcPts val="900"/>
              </a:spcBef>
              <a:defRPr sz="3400"/>
            </a:lvl2pPr>
            <a:lvl3pPr algn="l">
              <a:spcBef>
                <a:spcPts val="900"/>
              </a:spcBef>
              <a:defRPr sz="3400"/>
            </a:lvl3pPr>
            <a:lvl4pPr algn="l">
              <a:spcBef>
                <a:spcPts val="900"/>
              </a:spcBef>
              <a:defRPr sz="3400"/>
            </a:lvl4pPr>
            <a:lvl5pPr algn="l">
              <a:spcBef>
                <a:spcPts val="900"/>
              </a:spcBef>
              <a:defRPr sz="3400"/>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xfrm>
            <a:off x="2113279" y="2353309"/>
            <a:ext cx="8778241" cy="914401"/>
          </a:xfrm>
          <a:prstGeom prst="rect">
            <a:avLst/>
          </a:prstGeom>
        </p:spPr>
        <p:txBody>
          <a:bodyPr/>
          <a:lstStyle/>
          <a:p>
            <a:r>
              <a:t>Title Text</a:t>
            </a:r>
          </a:p>
        </p:txBody>
      </p:sp>
      <p:sp>
        <p:nvSpPr>
          <p:cNvPr id="39" name="Body Level One…"/>
          <p:cNvSpPr txBox="1">
            <a:spLocks noGrp="1"/>
          </p:cNvSpPr>
          <p:nvPr>
            <p:ph type="body" sz="quarter" idx="1"/>
          </p:nvPr>
        </p:nvSpPr>
        <p:spPr>
          <a:xfrm>
            <a:off x="2113279" y="3413761"/>
            <a:ext cx="4307841" cy="3620771"/>
          </a:xfrm>
          <a:prstGeom prst="rect">
            <a:avLst/>
          </a:prstGeom>
        </p:spPr>
        <p:txBody>
          <a:bodyPr/>
          <a:lstStyle>
            <a:lvl1pPr marL="612321" indent="-612321" algn="l">
              <a:spcBef>
                <a:spcPts val="1200"/>
              </a:spcBef>
              <a:buSzPct val="100000"/>
              <a:buFont typeface="Arial"/>
              <a:buChar char="•"/>
              <a:defRPr sz="5000">
                <a:solidFill>
                  <a:srgbClr val="000000"/>
                </a:solidFill>
              </a:defRPr>
            </a:lvl1pPr>
            <a:lvl2pPr marL="1052512" indent="-595312" algn="l">
              <a:spcBef>
                <a:spcPts val="1200"/>
              </a:spcBef>
              <a:buSzPct val="100000"/>
              <a:buFont typeface="Arial"/>
              <a:buChar char="–"/>
              <a:defRPr sz="5000">
                <a:solidFill>
                  <a:srgbClr val="000000"/>
                </a:solidFill>
              </a:defRPr>
            </a:lvl2pPr>
            <a:lvl3pPr marL="1485900" indent="-571500" algn="l">
              <a:spcBef>
                <a:spcPts val="1200"/>
              </a:spcBef>
              <a:buSzPct val="100000"/>
              <a:buFont typeface="Arial"/>
              <a:buChar char="•"/>
              <a:defRPr sz="5000">
                <a:solidFill>
                  <a:srgbClr val="000000"/>
                </a:solidFill>
              </a:defRPr>
            </a:lvl3pPr>
            <a:lvl4pPr marL="2006600" indent="-635000" algn="l">
              <a:spcBef>
                <a:spcPts val="1200"/>
              </a:spcBef>
              <a:buSzPct val="100000"/>
              <a:buFont typeface="Arial"/>
              <a:buChar char="–"/>
              <a:defRPr sz="5000">
                <a:solidFill>
                  <a:srgbClr val="000000"/>
                </a:solidFill>
              </a:defRPr>
            </a:lvl4pPr>
            <a:lvl5pPr marL="2463800" indent="-635000" algn="l">
              <a:spcBef>
                <a:spcPts val="1200"/>
              </a:spcBef>
              <a:buSzPct val="100000"/>
              <a:buFont typeface="Arial"/>
              <a:buChar char="»"/>
              <a:defRPr sz="50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2113279" y="2353309"/>
            <a:ext cx="8778241" cy="914401"/>
          </a:xfrm>
          <a:prstGeom prst="rect">
            <a:avLst/>
          </a:prstGeom>
        </p:spPr>
        <p:txBody>
          <a:bodyPr/>
          <a:lstStyle/>
          <a:p>
            <a:r>
              <a:t>Title Text</a:t>
            </a:r>
          </a:p>
        </p:txBody>
      </p:sp>
      <p:sp>
        <p:nvSpPr>
          <p:cNvPr id="48" name="Body Level One…"/>
          <p:cNvSpPr txBox="1">
            <a:spLocks noGrp="1"/>
          </p:cNvSpPr>
          <p:nvPr>
            <p:ph type="body" sz="quarter" idx="1"/>
          </p:nvPr>
        </p:nvSpPr>
        <p:spPr>
          <a:xfrm>
            <a:off x="2113279" y="3361690"/>
            <a:ext cx="4309535" cy="511811"/>
          </a:xfrm>
          <a:prstGeom prst="rect">
            <a:avLst/>
          </a:prstGeom>
        </p:spPr>
        <p:txBody>
          <a:bodyPr anchor="b"/>
          <a:lstStyle>
            <a:lvl1pPr algn="l">
              <a:spcBef>
                <a:spcPts val="1000"/>
              </a:spcBef>
              <a:defRPr sz="4200" b="1">
                <a:solidFill>
                  <a:srgbClr val="000000"/>
                </a:solidFill>
              </a:defRPr>
            </a:lvl1pPr>
            <a:lvl2pPr algn="l">
              <a:spcBef>
                <a:spcPts val="1000"/>
              </a:spcBef>
              <a:defRPr sz="4200" b="1">
                <a:solidFill>
                  <a:srgbClr val="000000"/>
                </a:solidFill>
              </a:defRPr>
            </a:lvl2pPr>
            <a:lvl3pPr algn="l">
              <a:spcBef>
                <a:spcPts val="1000"/>
              </a:spcBef>
              <a:defRPr sz="4200" b="1">
                <a:solidFill>
                  <a:srgbClr val="000000"/>
                </a:solidFill>
              </a:defRPr>
            </a:lvl3pPr>
            <a:lvl4pPr algn="l">
              <a:spcBef>
                <a:spcPts val="1000"/>
              </a:spcBef>
              <a:defRPr sz="4200" b="1">
                <a:solidFill>
                  <a:srgbClr val="000000"/>
                </a:solidFill>
              </a:defRPr>
            </a:lvl4pPr>
            <a:lvl5pPr algn="l">
              <a:spcBef>
                <a:spcPts val="1000"/>
              </a:spcBef>
              <a:defRPr sz="4200" b="1">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580294" y="3361690"/>
            <a:ext cx="4311228" cy="511811"/>
          </a:xfrm>
          <a:prstGeom prst="rect">
            <a:avLst/>
          </a:prstGeom>
          <a:ln w="12700"/>
        </p:spPr>
        <p:txBody>
          <a:bodyPr anchor="b"/>
          <a:lstStyle/>
          <a:p>
            <a:pPr algn="l">
              <a:spcBef>
                <a:spcPts val="1000"/>
              </a:spcBef>
              <a:defRPr sz="4200" b="1">
                <a:solidFill>
                  <a:srgbClr val="000000"/>
                </a:solidFill>
              </a:defRPr>
            </a:pPr>
            <a:endParaRPr/>
          </a:p>
        </p:txBody>
      </p:sp>
      <p:sp>
        <p:nvSpPr>
          <p:cNvPr id="50"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xfrm>
            <a:off x="2113279" y="2353309"/>
            <a:ext cx="8778241" cy="914401"/>
          </a:xfrm>
          <a:prstGeom prst="rect">
            <a:avLst/>
          </a:prstGeom>
        </p:spPr>
        <p:txBody>
          <a:bodyPr/>
          <a:lstStyle/>
          <a:p>
            <a:r>
              <a:t>Title Text</a:t>
            </a:r>
          </a:p>
        </p:txBody>
      </p:sp>
      <p:sp>
        <p:nvSpPr>
          <p:cNvPr id="58"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2113280" y="2352039"/>
            <a:ext cx="3208869" cy="929641"/>
          </a:xfrm>
          <a:prstGeom prst="rect">
            <a:avLst/>
          </a:prstGeom>
        </p:spPr>
        <p:txBody>
          <a:bodyPr anchor="b"/>
          <a:lstStyle>
            <a:lvl1pPr algn="l">
              <a:defRPr sz="3400" b="1"/>
            </a:lvl1pPr>
          </a:lstStyle>
          <a:p>
            <a:r>
              <a:t>Title Text</a:t>
            </a:r>
          </a:p>
        </p:txBody>
      </p:sp>
      <p:sp>
        <p:nvSpPr>
          <p:cNvPr id="73" name="Body Level One…"/>
          <p:cNvSpPr txBox="1">
            <a:spLocks noGrp="1"/>
          </p:cNvSpPr>
          <p:nvPr>
            <p:ph type="body" sz="half" idx="1"/>
          </p:nvPr>
        </p:nvSpPr>
        <p:spPr>
          <a:xfrm>
            <a:off x="5438986" y="2352040"/>
            <a:ext cx="5452535" cy="4682492"/>
          </a:xfrm>
          <a:prstGeom prst="rect">
            <a:avLst/>
          </a:prstGeom>
        </p:spPr>
        <p:txBody>
          <a:bodyPr/>
          <a:lstStyle>
            <a:lvl1pPr marL="364331" indent="-364331" algn="just">
              <a:lnSpc>
                <a:spcPct val="150000"/>
              </a:lnSpc>
              <a:spcBef>
                <a:spcPts val="0"/>
              </a:spcBef>
              <a:buSzPct val="100000"/>
              <a:buFont typeface="Arial"/>
              <a:buChar char="•"/>
              <a:defRPr sz="3400">
                <a:solidFill>
                  <a:srgbClr val="000000"/>
                </a:solidFill>
                <a:latin typeface="+mn-lt"/>
                <a:ea typeface="+mn-ea"/>
                <a:cs typeface="+mn-cs"/>
                <a:sym typeface="Times New Roman"/>
              </a:defRPr>
            </a:lvl1pPr>
            <a:lvl2pPr marL="804182" indent="-346982" algn="just">
              <a:lnSpc>
                <a:spcPct val="150000"/>
              </a:lnSpc>
              <a:spcBef>
                <a:spcPts val="0"/>
              </a:spcBef>
              <a:buSzPct val="100000"/>
              <a:buFont typeface="Arial"/>
              <a:buChar char="–"/>
              <a:defRPr sz="3400">
                <a:solidFill>
                  <a:srgbClr val="000000"/>
                </a:solidFill>
                <a:latin typeface="+mn-lt"/>
                <a:ea typeface="+mn-ea"/>
                <a:cs typeface="+mn-cs"/>
                <a:sym typeface="Times New Roman"/>
              </a:defRPr>
            </a:lvl2pPr>
            <a:lvl3pPr marL="1238250" indent="-323850" algn="just">
              <a:lnSpc>
                <a:spcPct val="150000"/>
              </a:lnSpc>
              <a:spcBef>
                <a:spcPts val="0"/>
              </a:spcBef>
              <a:buSzPct val="100000"/>
              <a:buFont typeface="Arial"/>
              <a:buChar char="•"/>
              <a:defRPr sz="3400">
                <a:solidFill>
                  <a:srgbClr val="000000"/>
                </a:solidFill>
                <a:latin typeface="+mn-lt"/>
                <a:ea typeface="+mn-ea"/>
                <a:cs typeface="+mn-cs"/>
                <a:sym typeface="Times New Roman"/>
              </a:defRPr>
            </a:lvl3pPr>
            <a:lvl4pPr marL="1760220" indent="-388620" algn="just">
              <a:lnSpc>
                <a:spcPct val="150000"/>
              </a:lnSpc>
              <a:spcBef>
                <a:spcPts val="0"/>
              </a:spcBef>
              <a:buSzPct val="100000"/>
              <a:buFont typeface="Arial"/>
              <a:buChar char="–"/>
              <a:defRPr sz="3400">
                <a:solidFill>
                  <a:srgbClr val="000000"/>
                </a:solidFill>
                <a:latin typeface="+mn-lt"/>
                <a:ea typeface="+mn-ea"/>
                <a:cs typeface="+mn-cs"/>
                <a:sym typeface="Times New Roman"/>
              </a:defRPr>
            </a:lvl4pPr>
            <a:lvl5pPr marL="2217420" indent="-388620" algn="just">
              <a:lnSpc>
                <a:spcPct val="150000"/>
              </a:lnSpc>
              <a:spcBef>
                <a:spcPts val="0"/>
              </a:spcBef>
              <a:buSzPct val="100000"/>
              <a:buFont typeface="Arial"/>
              <a:buChar char="»"/>
              <a:defRPr sz="3400">
                <a:solidFill>
                  <a:srgbClr val="000000"/>
                </a:solidFill>
                <a:latin typeface="+mn-lt"/>
                <a:ea typeface="+mn-ea"/>
                <a:cs typeface="+mn-cs"/>
                <a:sym typeface="Times New Roman"/>
              </a:defRPr>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2113280" y="3281681"/>
            <a:ext cx="3208869" cy="3752851"/>
          </a:xfrm>
          <a:prstGeom prst="rect">
            <a:avLst/>
          </a:prstGeom>
          <a:ln w="12700"/>
        </p:spPr>
        <p:txBody>
          <a:bodyPr/>
          <a:lstStyle/>
          <a:p>
            <a:pPr algn="l">
              <a:spcBef>
                <a:spcPts val="600"/>
              </a:spcBef>
              <a:defRPr sz="2400">
                <a:solidFill>
                  <a:srgbClr val="000000"/>
                </a:solidFill>
              </a:defRPr>
            </a:pPr>
            <a:endParaRPr/>
          </a:p>
        </p:txBody>
      </p:sp>
      <p:sp>
        <p:nvSpPr>
          <p:cNvPr id="75"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3537373" y="5974079"/>
            <a:ext cx="5852161" cy="453392"/>
          </a:xfrm>
          <a:prstGeom prst="rect">
            <a:avLst/>
          </a:prstGeom>
        </p:spPr>
        <p:txBody>
          <a:bodyPr anchor="b"/>
          <a:lstStyle>
            <a:lvl1pPr algn="l">
              <a:defRPr sz="3400" b="1"/>
            </a:lvl1pPr>
          </a:lstStyle>
          <a:p>
            <a:r>
              <a:t>Title Text</a:t>
            </a:r>
          </a:p>
        </p:txBody>
      </p:sp>
      <p:sp>
        <p:nvSpPr>
          <p:cNvPr id="83" name="Picture Placeholder 2"/>
          <p:cNvSpPr>
            <a:spLocks noGrp="1"/>
          </p:cNvSpPr>
          <p:nvPr>
            <p:ph type="pic" sz="quarter" idx="21"/>
          </p:nvPr>
        </p:nvSpPr>
        <p:spPr>
          <a:xfrm>
            <a:off x="3537373" y="2623819"/>
            <a:ext cx="5852161" cy="3291841"/>
          </a:xfrm>
          <a:prstGeom prst="rect">
            <a:avLst/>
          </a:prstGeom>
          <a:ln w="12700"/>
        </p:spPr>
        <p:txBody>
          <a:bodyPr lIns="91439" tIns="45719" rIns="91439" bIns="45719">
            <a:noAutofit/>
          </a:bodyPr>
          <a:lstStyle/>
          <a:p>
            <a:endParaRPr/>
          </a:p>
        </p:txBody>
      </p:sp>
      <p:sp>
        <p:nvSpPr>
          <p:cNvPr id="84" name="Body Level One…"/>
          <p:cNvSpPr txBox="1">
            <a:spLocks noGrp="1"/>
          </p:cNvSpPr>
          <p:nvPr>
            <p:ph type="body" sz="quarter" idx="1"/>
          </p:nvPr>
        </p:nvSpPr>
        <p:spPr>
          <a:xfrm>
            <a:off x="3537373" y="6427470"/>
            <a:ext cx="5852161" cy="643891"/>
          </a:xfrm>
          <a:prstGeom prst="rect">
            <a:avLst/>
          </a:prstGeom>
        </p:spPr>
        <p:txBody>
          <a:bodyPr/>
          <a:lstStyle>
            <a:lvl1pPr>
              <a:spcBef>
                <a:spcPts val="600"/>
              </a:spcBef>
              <a:defRPr sz="2400">
                <a:solidFill>
                  <a:srgbClr val="000000"/>
                </a:solidFill>
                <a:latin typeface="+mn-lt"/>
                <a:ea typeface="+mn-ea"/>
                <a:cs typeface="+mn-cs"/>
                <a:sym typeface="Times New Roman"/>
              </a:defRPr>
            </a:lvl1pPr>
            <a:lvl2pPr>
              <a:spcBef>
                <a:spcPts val="600"/>
              </a:spcBef>
              <a:defRPr sz="2400">
                <a:solidFill>
                  <a:srgbClr val="000000"/>
                </a:solidFill>
                <a:latin typeface="+mn-lt"/>
                <a:ea typeface="+mn-ea"/>
                <a:cs typeface="+mn-cs"/>
                <a:sym typeface="Times New Roman"/>
              </a:defRPr>
            </a:lvl2pPr>
            <a:lvl3pPr>
              <a:spcBef>
                <a:spcPts val="600"/>
              </a:spcBef>
              <a:defRPr sz="2400">
                <a:solidFill>
                  <a:srgbClr val="000000"/>
                </a:solidFill>
                <a:latin typeface="+mn-lt"/>
                <a:ea typeface="+mn-ea"/>
                <a:cs typeface="+mn-cs"/>
                <a:sym typeface="Times New Roman"/>
              </a:defRPr>
            </a:lvl3pPr>
            <a:lvl4pPr>
              <a:spcBef>
                <a:spcPts val="600"/>
              </a:spcBef>
              <a:defRPr sz="2400">
                <a:solidFill>
                  <a:srgbClr val="000000"/>
                </a:solidFill>
                <a:latin typeface="+mn-lt"/>
                <a:ea typeface="+mn-ea"/>
                <a:cs typeface="+mn-cs"/>
                <a:sym typeface="Times New Roman"/>
              </a:defRPr>
            </a:lvl4pPr>
            <a:lvl5pPr>
              <a:spcBef>
                <a:spcPts val="600"/>
              </a:spcBef>
              <a:defRPr sz="2400">
                <a:solidFill>
                  <a:srgbClr val="000000"/>
                </a:solidFill>
                <a:latin typeface="+mn-lt"/>
                <a:ea typeface="+mn-ea"/>
                <a:cs typeface="+mn-cs"/>
                <a:sym typeface="Times New Roman"/>
              </a:defRPr>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357119" y="3837940"/>
            <a:ext cx="8290562" cy="117602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a:bodyPr>
          <a:lstStyle/>
          <a:p>
            <a:r>
              <a:t>Title Text</a:t>
            </a:r>
          </a:p>
        </p:txBody>
      </p:sp>
      <p:sp>
        <p:nvSpPr>
          <p:cNvPr id="3" name="Body Level One…"/>
          <p:cNvSpPr txBox="1">
            <a:spLocks noGrp="1"/>
          </p:cNvSpPr>
          <p:nvPr>
            <p:ph type="body" idx="1"/>
          </p:nvPr>
        </p:nvSpPr>
        <p:spPr>
          <a:xfrm>
            <a:off x="3088639" y="5242560"/>
            <a:ext cx="6827522" cy="140208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0523811" y="7191592"/>
            <a:ext cx="367710" cy="346278"/>
          </a:xfrm>
          <a:prstGeom prst="rect">
            <a:avLst/>
          </a:prstGeom>
          <a:ln w="3175">
            <a:miter lim="400000"/>
          </a:ln>
        </p:spPr>
        <p:txBody>
          <a:bodyPr wrap="none" lIns="48767" tIns="48767" rIns="48767" bIns="48767" anchor="ctr">
            <a:spAutoFit/>
          </a:bodyPr>
          <a:lstStyle>
            <a:lvl1pPr algn="r">
              <a:defRPr sz="20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p:titleStyle>
    <p:bodyStyle>
      <a:lvl1pPr marL="0" marR="0" indent="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1pPr>
      <a:lvl2pPr marL="0" marR="0" indent="4572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2pPr>
      <a:lvl3pPr marL="0" marR="0" indent="9144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3pPr>
      <a:lvl4pPr marL="0" marR="0" indent="13716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4pPr>
      <a:lvl5pPr marL="0" marR="0" indent="18288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5pPr>
      <a:lvl6pPr marL="0" marR="0" indent="22860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6pPr>
      <a:lvl7pPr marL="0" marR="0" indent="27432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7pPr>
      <a:lvl8pPr marL="0" marR="0" indent="32004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8pPr>
      <a:lvl9pPr marL="0" marR="0" indent="36576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9pPr>
    </p:bodyStyle>
    <p:otherStyle>
      <a:lvl1pPr marL="0" marR="0" indent="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1pPr>
      <a:lvl2pPr marL="0" marR="0" indent="4572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2pPr>
      <a:lvl3pPr marL="0" marR="0" indent="9144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3pPr>
      <a:lvl4pPr marL="0" marR="0" indent="13716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4pPr>
      <a:lvl5pPr marL="0" marR="0" indent="18288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5pPr>
      <a:lvl6pPr marL="0" marR="0" indent="22860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6pPr>
      <a:lvl7pPr marL="0" marR="0" indent="27432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7pPr>
      <a:lvl8pPr marL="0" marR="0" indent="32004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8pPr>
      <a:lvl9pPr marL="0" marR="0" indent="36576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C343C-76FD-A3FD-337C-C7E6358B6A99}"/>
            </a:ext>
          </a:extLst>
        </p:cNvPr>
        <p:cNvGrpSpPr/>
        <p:nvPr/>
      </p:nvGrpSpPr>
      <p:grpSpPr>
        <a:xfrm>
          <a:off x="0" y="0"/>
          <a:ext cx="0" cy="0"/>
          <a:chOff x="0" y="0"/>
          <a:chExt cx="0" cy="0"/>
        </a:xfrm>
      </p:grpSpPr>
      <p:pic>
        <p:nvPicPr>
          <p:cNvPr id="94" name="Picture 2" descr="Picture 2">
            <a:extLst>
              <a:ext uri="{FF2B5EF4-FFF2-40B4-BE49-F238E27FC236}">
                <a16:creationId xmlns:a16="http://schemas.microsoft.com/office/drawing/2014/main" id="{8BE69960-1614-6DA8-0EB3-384726457F83}"/>
              </a:ext>
            </a:extLst>
          </p:cNvPr>
          <p:cNvPicPr>
            <a:picLocks noChangeAspect="1"/>
          </p:cNvPicPr>
          <p:nvPr/>
        </p:nvPicPr>
        <p:blipFill>
          <a:blip r:embed="rId2"/>
          <a:stretch>
            <a:fillRect/>
          </a:stretch>
        </p:blipFill>
        <p:spPr>
          <a:xfrm>
            <a:off x="-4392" y="7843924"/>
            <a:ext cx="13013584" cy="1917902"/>
          </a:xfrm>
          <a:prstGeom prst="rect">
            <a:avLst/>
          </a:prstGeom>
          <a:ln w="12700">
            <a:miter lim="400000"/>
          </a:ln>
        </p:spPr>
      </p:pic>
      <p:sp>
        <p:nvSpPr>
          <p:cNvPr id="95" name="TextBox 4">
            <a:extLst>
              <a:ext uri="{FF2B5EF4-FFF2-40B4-BE49-F238E27FC236}">
                <a16:creationId xmlns:a16="http://schemas.microsoft.com/office/drawing/2014/main" id="{571AC8BB-3274-A493-3C26-E873CFE4D31C}"/>
              </a:ext>
            </a:extLst>
          </p:cNvPr>
          <p:cNvSpPr txBox="1"/>
          <p:nvPr/>
        </p:nvSpPr>
        <p:spPr>
          <a:xfrm>
            <a:off x="1205864" y="4905044"/>
            <a:ext cx="5671202" cy="2376033"/>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spAutoFit/>
          </a:bodyPr>
          <a:lstStyle/>
          <a:p>
            <a:pPr algn="ctr">
              <a:defRPr sz="2400" b="1">
                <a:effectLst>
                  <a:outerShdw blurRad="38100" dist="38100" dir="2700000" rotWithShape="0">
                    <a:srgbClr val="000000">
                      <a:alpha val="43137"/>
                    </a:srgbClr>
                  </a:outerShdw>
                </a:effectLst>
                <a:latin typeface="+mn-lt"/>
                <a:ea typeface="+mn-ea"/>
                <a:cs typeface="+mn-cs"/>
                <a:sym typeface="Times New Roman"/>
              </a:defRPr>
            </a:pPr>
            <a:r>
              <a:rPr sz="2800" u="sng" dirty="0"/>
              <a:t>Presented by</a:t>
            </a:r>
            <a:endParaRPr lang="en-IN" sz="2800" u="sng" dirty="0"/>
          </a:p>
          <a:p>
            <a:pPr algn="ctr">
              <a:defRPr sz="2400" b="1">
                <a:effectLst>
                  <a:outerShdw blurRad="38100" dist="38100" dir="2700000" rotWithShape="0">
                    <a:srgbClr val="000000">
                      <a:alpha val="43137"/>
                    </a:srgbClr>
                  </a:outerShdw>
                </a:effectLst>
                <a:latin typeface="+mn-lt"/>
                <a:ea typeface="+mn-ea"/>
                <a:cs typeface="+mn-cs"/>
                <a:sym typeface="Times New Roman"/>
              </a:defRPr>
            </a:pPr>
            <a:r>
              <a:rPr lang="en-IN" dirty="0"/>
              <a:t>Abhishek S R</a:t>
            </a:r>
          </a:p>
          <a:p>
            <a:pPr algn="ctr">
              <a:defRPr sz="2400" b="1">
                <a:effectLst>
                  <a:outerShdw blurRad="38100" dist="38100" dir="2700000" rotWithShape="0">
                    <a:srgbClr val="000000">
                      <a:alpha val="43137"/>
                    </a:srgbClr>
                  </a:outerShdw>
                </a:effectLst>
                <a:latin typeface="+mn-lt"/>
                <a:ea typeface="+mn-ea"/>
                <a:cs typeface="+mn-cs"/>
                <a:sym typeface="Times New Roman"/>
              </a:defRPr>
            </a:pPr>
            <a:r>
              <a:rPr lang="en-IN" dirty="0"/>
              <a:t>Deepan Raj K</a:t>
            </a:r>
          </a:p>
          <a:p>
            <a:pPr algn="ctr">
              <a:defRPr sz="2400" b="1">
                <a:effectLst>
                  <a:outerShdw blurRad="38100" dist="38100" dir="2700000" rotWithShape="0">
                    <a:srgbClr val="000000">
                      <a:alpha val="43137"/>
                    </a:srgbClr>
                  </a:outerShdw>
                </a:effectLst>
                <a:latin typeface="+mn-lt"/>
                <a:ea typeface="+mn-ea"/>
                <a:cs typeface="+mn-cs"/>
                <a:sym typeface="Times New Roman"/>
              </a:defRPr>
            </a:pPr>
            <a:r>
              <a:rPr lang="en-IN" dirty="0"/>
              <a:t>Vidhya Vinayaga K G</a:t>
            </a:r>
          </a:p>
          <a:p>
            <a:pPr algn="ctr">
              <a:defRPr sz="2400">
                <a:latin typeface="+mn-lt"/>
                <a:ea typeface="+mn-ea"/>
                <a:cs typeface="+mn-cs"/>
                <a:sym typeface="Times New Roman"/>
              </a:defRPr>
            </a:pPr>
            <a:r>
              <a:rPr dirty="0"/>
              <a:t>Department of ECE</a:t>
            </a:r>
          </a:p>
          <a:p>
            <a:pPr algn="ctr">
              <a:defRPr sz="2400">
                <a:latin typeface="+mn-lt"/>
                <a:ea typeface="+mn-ea"/>
                <a:cs typeface="+mn-cs"/>
                <a:sym typeface="Times New Roman"/>
              </a:defRPr>
            </a:pPr>
            <a:r>
              <a:rPr dirty="0"/>
              <a:t>School of EEE</a:t>
            </a:r>
          </a:p>
        </p:txBody>
      </p:sp>
      <p:sp>
        <p:nvSpPr>
          <p:cNvPr id="96" name="TextBox 5">
            <a:extLst>
              <a:ext uri="{FF2B5EF4-FFF2-40B4-BE49-F238E27FC236}">
                <a16:creationId xmlns:a16="http://schemas.microsoft.com/office/drawing/2014/main" id="{9FF45386-BCA6-1E43-EBEF-47B3FEB1940E}"/>
              </a:ext>
            </a:extLst>
          </p:cNvPr>
          <p:cNvSpPr txBox="1"/>
          <p:nvPr/>
        </p:nvSpPr>
        <p:spPr>
          <a:xfrm>
            <a:off x="6706164" y="5157355"/>
            <a:ext cx="5105918" cy="163736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spAutoFit/>
          </a:bodyPr>
          <a:lstStyle/>
          <a:p>
            <a:pPr algn="ctr">
              <a:defRPr sz="2400" b="1">
                <a:effectLst>
                  <a:outerShdw blurRad="38100" dist="38100" dir="2700000" rotWithShape="0">
                    <a:srgbClr val="000000">
                      <a:alpha val="43137"/>
                    </a:srgbClr>
                  </a:outerShdw>
                </a:effectLst>
                <a:latin typeface="+mn-lt"/>
                <a:ea typeface="+mn-ea"/>
                <a:cs typeface="+mn-cs"/>
                <a:sym typeface="Times New Roman"/>
              </a:defRPr>
            </a:pPr>
            <a:r>
              <a:rPr sz="2800" u="sng" dirty="0"/>
              <a:t>Supervised by</a:t>
            </a:r>
          </a:p>
          <a:p>
            <a:pPr algn="ctr">
              <a:defRPr sz="2400" spc="0">
                <a:effectLst>
                  <a:outerShdw blurRad="38100" dist="38100" dir="2700000" rotWithShape="0">
                    <a:srgbClr val="000000">
                      <a:alpha val="43137"/>
                    </a:srgbClr>
                  </a:outerShdw>
                </a:effectLst>
                <a:latin typeface="+mn-lt"/>
                <a:ea typeface="+mn-ea"/>
                <a:cs typeface="+mn-cs"/>
                <a:sym typeface="Times New Roman"/>
              </a:defRPr>
            </a:pPr>
            <a:r>
              <a:rPr b="1" dirty="0"/>
              <a:t>Dr.</a:t>
            </a:r>
            <a:r>
              <a:rPr lang="en-IN" b="1" dirty="0"/>
              <a:t>J Siva</a:t>
            </a:r>
            <a:endParaRPr b="1" dirty="0"/>
          </a:p>
          <a:p>
            <a:pPr algn="ctr">
              <a:defRPr sz="2400" spc="0">
                <a:latin typeface="+mn-lt"/>
                <a:ea typeface="+mn-ea"/>
                <a:cs typeface="+mn-cs"/>
                <a:sym typeface="Times New Roman"/>
              </a:defRPr>
            </a:pPr>
            <a:r>
              <a:rPr dirty="0"/>
              <a:t>School of</a:t>
            </a:r>
            <a:r>
              <a:rPr lang="en-US" dirty="0"/>
              <a:t> EEE</a:t>
            </a:r>
            <a:endParaRPr dirty="0"/>
          </a:p>
          <a:p>
            <a:pPr algn="ctr">
              <a:defRPr sz="2400" spc="0">
                <a:latin typeface="+mn-lt"/>
                <a:ea typeface="+mn-ea"/>
                <a:cs typeface="+mn-cs"/>
                <a:sym typeface="Times New Roman"/>
              </a:defRPr>
            </a:pPr>
            <a:r>
              <a:rPr dirty="0"/>
              <a:t>SASTRA</a:t>
            </a:r>
          </a:p>
        </p:txBody>
      </p:sp>
      <p:sp>
        <p:nvSpPr>
          <p:cNvPr id="98" name="Title 1">
            <a:extLst>
              <a:ext uri="{FF2B5EF4-FFF2-40B4-BE49-F238E27FC236}">
                <a16:creationId xmlns:a16="http://schemas.microsoft.com/office/drawing/2014/main" id="{5FAAA6D3-7FAA-8F6B-16B9-4B78CF20D635}"/>
              </a:ext>
            </a:extLst>
          </p:cNvPr>
          <p:cNvSpPr txBox="1">
            <a:spLocks noGrp="1"/>
          </p:cNvSpPr>
          <p:nvPr>
            <p:ph type="ctrTitle"/>
          </p:nvPr>
        </p:nvSpPr>
        <p:spPr>
          <a:xfrm>
            <a:off x="1335218" y="3389447"/>
            <a:ext cx="10741892" cy="1176021"/>
          </a:xfrm>
          <a:prstGeom prst="rect">
            <a:avLst/>
          </a:prstGeom>
          <a:effectLst>
            <a:reflection stA="0" endPos="40000" dir="5400000" sy="-100000" algn="bl" rotWithShape="0"/>
          </a:effectLst>
        </p:spPr>
        <p:txBody>
          <a:bodyPr>
            <a:noAutofit/>
          </a:bodyPr>
          <a:lstStyle/>
          <a:p>
            <a:pPr defTabSz="1109742">
              <a:defRPr sz="3712" b="1">
                <a:effectLst>
                  <a:outerShdw blurRad="24384" dist="24384" dir="2700000" rotWithShape="0">
                    <a:srgbClr val="000000">
                      <a:alpha val="43137"/>
                    </a:srgbClr>
                  </a:outerShdw>
                </a:effectLst>
                <a:latin typeface="+mn-lt"/>
                <a:ea typeface="+mn-ea"/>
                <a:cs typeface="+mn-cs"/>
                <a:sym typeface="Times New Roman"/>
              </a:defRPr>
            </a:pPr>
            <a:r>
              <a:rPr lang="en-US" sz="4000" dirty="0">
                <a:sym typeface="Times New Roman"/>
              </a:rPr>
              <a:t>Hardware Implementation of Lossless Image Compression</a:t>
            </a:r>
            <a:endParaRPr sz="4000" u="sng" dirty="0"/>
          </a:p>
        </p:txBody>
      </p:sp>
      <p:sp>
        <p:nvSpPr>
          <p:cNvPr id="99" name="Slide Number">
            <a:extLst>
              <a:ext uri="{FF2B5EF4-FFF2-40B4-BE49-F238E27FC236}">
                <a16:creationId xmlns:a16="http://schemas.microsoft.com/office/drawing/2014/main" id="{278F8EAB-D99B-70C4-8366-15D96B9C591C}"/>
              </a:ext>
            </a:extLst>
          </p:cNvPr>
          <p:cNvSpPr txBox="1">
            <a:spLocks noGrp="1"/>
          </p:cNvSpPr>
          <p:nvPr>
            <p:ph type="sldNum" sz="quarter" idx="2"/>
          </p:nvPr>
        </p:nvSpPr>
        <p:spPr>
          <a:xfrm>
            <a:off x="12255494" y="7649452"/>
            <a:ext cx="238974" cy="34627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pic>
        <p:nvPicPr>
          <p:cNvPr id="2" name="Picture 1">
            <a:extLst>
              <a:ext uri="{FF2B5EF4-FFF2-40B4-BE49-F238E27FC236}">
                <a16:creationId xmlns:a16="http://schemas.microsoft.com/office/drawing/2014/main" id="{A5EB49B5-7939-44C5-B432-70F2E2686E96}"/>
              </a:ext>
            </a:extLst>
          </p:cNvPr>
          <p:cNvPicPr>
            <a:picLocks noChangeAspect="1"/>
          </p:cNvPicPr>
          <p:nvPr/>
        </p:nvPicPr>
        <p:blipFill>
          <a:blip r:embed="rId3"/>
          <a:stretch>
            <a:fillRect/>
          </a:stretch>
        </p:blipFill>
        <p:spPr>
          <a:xfrm>
            <a:off x="2033611" y="553770"/>
            <a:ext cx="8937578" cy="2392899"/>
          </a:xfrm>
          <a:prstGeom prst="rect">
            <a:avLst/>
          </a:prstGeom>
        </p:spPr>
      </p:pic>
      <p:sp>
        <p:nvSpPr>
          <p:cNvPr id="3" name="Title 1">
            <a:extLst>
              <a:ext uri="{FF2B5EF4-FFF2-40B4-BE49-F238E27FC236}">
                <a16:creationId xmlns:a16="http://schemas.microsoft.com/office/drawing/2014/main" id="{ADF3CC84-8B78-477E-73D0-01BEBF8E19F9}"/>
              </a:ext>
            </a:extLst>
          </p:cNvPr>
          <p:cNvSpPr txBox="1">
            <a:spLocks/>
          </p:cNvSpPr>
          <p:nvPr/>
        </p:nvSpPr>
        <p:spPr>
          <a:xfrm>
            <a:off x="4526200" y="7429126"/>
            <a:ext cx="3952399" cy="588010"/>
          </a:xfrm>
          <a:prstGeom prst="rect">
            <a:avLst/>
          </a:prstGeom>
          <a:ln w="3175">
            <a:miter lim="400000"/>
          </a:ln>
          <a:effectLst>
            <a:reflection stA="0" endPos="40000" dir="5400000" sy="-100000" algn="bl" rotWithShape="0"/>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Autofit/>
          </a:bodyPr>
          <a:lstStyle>
            <a:lvl1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defTabSz="1109742" hangingPunct="1">
              <a:defRPr sz="3712" b="1">
                <a:effectLst>
                  <a:outerShdw blurRad="24384" dist="24384" dir="2700000" rotWithShape="0">
                    <a:srgbClr val="000000">
                      <a:alpha val="43137"/>
                    </a:srgbClr>
                  </a:outerShdw>
                </a:effectLst>
                <a:latin typeface="+mn-lt"/>
                <a:ea typeface="+mn-ea"/>
                <a:cs typeface="+mn-cs"/>
                <a:sym typeface="Times New Roman"/>
              </a:defRPr>
            </a:pPr>
            <a:r>
              <a:rPr lang="en-US" sz="4000" b="1" u="sng" dirty="0">
                <a:effectLst>
                  <a:outerShdw blurRad="24384" dist="24384" dir="2700000" rotWithShape="0">
                    <a:srgbClr val="000000">
                      <a:alpha val="43137"/>
                    </a:srgbClr>
                  </a:outerShdw>
                </a:effectLst>
                <a:latin typeface="+mn-lt"/>
                <a:ea typeface="+mn-ea"/>
                <a:cs typeface="+mn-cs"/>
                <a:sym typeface="Times New Roman"/>
              </a:rPr>
              <a:t>Final Review</a:t>
            </a:r>
          </a:p>
        </p:txBody>
      </p:sp>
    </p:spTree>
    <p:extLst>
      <p:ext uri="{BB962C8B-B14F-4D97-AF65-F5344CB8AC3E}">
        <p14:creationId xmlns:p14="http://schemas.microsoft.com/office/powerpoint/2010/main" val="141156809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
          <p:cNvSpPr txBox="1">
            <a:spLocks noGrp="1"/>
          </p:cNvSpPr>
          <p:nvPr>
            <p:ph type="title"/>
          </p:nvPr>
        </p:nvSpPr>
        <p:spPr>
          <a:xfrm>
            <a:off x="1625599" y="871130"/>
            <a:ext cx="9753602" cy="914401"/>
          </a:xfrm>
          <a:prstGeom prst="rect">
            <a:avLst/>
          </a:prstGeom>
        </p:spPr>
        <p:txBody>
          <a:bodyPr>
            <a:normAutofit fontScale="90000"/>
          </a:bodyPr>
          <a:lstStyle>
            <a:lvl1pPr defTabSz="1456537">
              <a:defRPr sz="5880" b="1">
                <a:effectLst>
                  <a:outerShdw blurRad="32004" dist="32004" dir="2700000" rotWithShape="0">
                    <a:srgbClr val="000000">
                      <a:alpha val="43137"/>
                    </a:srgbClr>
                  </a:outerShdw>
                </a:effectLst>
                <a:latin typeface="+mn-lt"/>
                <a:ea typeface="+mn-ea"/>
                <a:cs typeface="+mn-cs"/>
                <a:sym typeface="Times New Roman"/>
              </a:defRPr>
            </a:lvl1pPr>
          </a:lstStyle>
          <a:p>
            <a:r>
              <a:rPr dirty="0"/>
              <a:t>Abstract</a:t>
            </a:r>
          </a:p>
        </p:txBody>
      </p:sp>
      <p:sp>
        <p:nvSpPr>
          <p:cNvPr id="130" name="Slide Number Placeholder 4"/>
          <p:cNvSpPr txBox="1">
            <a:spLocks noGrp="1"/>
          </p:cNvSpPr>
          <p:nvPr>
            <p:ph type="sldNum" sz="quarter" idx="2"/>
          </p:nvPr>
        </p:nvSpPr>
        <p:spPr>
          <a:xfrm>
            <a:off x="12369933" y="9101351"/>
            <a:ext cx="238973" cy="3462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
        <p:nvSpPr>
          <p:cNvPr id="3" name="TextBox 2">
            <a:extLst>
              <a:ext uri="{FF2B5EF4-FFF2-40B4-BE49-F238E27FC236}">
                <a16:creationId xmlns:a16="http://schemas.microsoft.com/office/drawing/2014/main" id="{C37C35B8-546F-1B13-9709-878408F7BC7F}"/>
              </a:ext>
            </a:extLst>
          </p:cNvPr>
          <p:cNvSpPr txBox="1"/>
          <p:nvPr/>
        </p:nvSpPr>
        <p:spPr>
          <a:xfrm>
            <a:off x="366035" y="2307313"/>
            <a:ext cx="12272730" cy="600779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8767" tIns="48767" rIns="48767" bIns="48767" numCol="1" spcCol="38100" rtlCol="0" anchor="t">
            <a:spAutoFit/>
          </a:bodyPr>
          <a:lstStyle/>
          <a:p>
            <a:pPr algn="just"/>
            <a:r>
              <a:rPr lang="en-US" dirty="0"/>
              <a:t>Lossless image compression is essential in embedded imaging systems where exact pixel reconstruction and efficient storage are required. This work presents a hardware implementation of a low-complexity compression algorithm on the Xilinx Zynq-7000 SoC (PYNQ-Z1). The design uses a MED predictor for spatial prediction and an adaptive Golomb-Rice encoder with escape coding for efficient compression. Key components such as a BRAM-based line buffer, bit-packer, and AXI interface are integrated into a streaming architecture. The system is tested on 12 grayscale images and achieves compression ratios from 1.14 to 3.99 with bits-per-pixel between 2.001 and 6.998. Results show efficient resource utilization and linear processing time, making the design suitable for real-time embedded imaging applications.</a:t>
            </a:r>
            <a:endParaRPr lang="en-IN" dirty="0"/>
          </a:p>
        </p:txBody>
      </p:sp>
      <p:pic>
        <p:nvPicPr>
          <p:cNvPr id="2" name="Picture 1">
            <a:extLst>
              <a:ext uri="{FF2B5EF4-FFF2-40B4-BE49-F238E27FC236}">
                <a16:creationId xmlns:a16="http://schemas.microsoft.com/office/drawing/2014/main" id="{E37247EE-F3B4-521D-C46B-17DAB04C3257}"/>
              </a:ext>
            </a:extLst>
          </p:cNvPr>
          <p:cNvPicPr>
            <a:picLocks noChangeAspect="1"/>
          </p:cNvPicPr>
          <p:nvPr/>
        </p:nvPicPr>
        <p:blipFill>
          <a:blip r:embed="rId2"/>
          <a:stretch>
            <a:fillRect/>
          </a:stretch>
        </p:blipFill>
        <p:spPr>
          <a:xfrm>
            <a:off x="10111408" y="1"/>
            <a:ext cx="2893391" cy="774661"/>
          </a:xfrm>
          <a:prstGeom prst="rect">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CDB14-C4C7-3944-F759-A4ECF924FB24}"/>
            </a:ext>
          </a:extLst>
        </p:cNvPr>
        <p:cNvGrpSpPr/>
        <p:nvPr/>
      </p:nvGrpSpPr>
      <p:grpSpPr>
        <a:xfrm>
          <a:off x="0" y="0"/>
          <a:ext cx="0" cy="0"/>
          <a:chOff x="0" y="0"/>
          <a:chExt cx="0" cy="0"/>
        </a:xfrm>
      </p:grpSpPr>
      <p:sp>
        <p:nvSpPr>
          <p:cNvPr id="107" name="Title 1">
            <a:extLst>
              <a:ext uri="{FF2B5EF4-FFF2-40B4-BE49-F238E27FC236}">
                <a16:creationId xmlns:a16="http://schemas.microsoft.com/office/drawing/2014/main" id="{DD6DE5F7-2D22-89A4-9CD3-B62A5B393D29}"/>
              </a:ext>
            </a:extLst>
          </p:cNvPr>
          <p:cNvSpPr txBox="1">
            <a:spLocks noGrp="1"/>
          </p:cNvSpPr>
          <p:nvPr>
            <p:ph type="title"/>
          </p:nvPr>
        </p:nvSpPr>
        <p:spPr>
          <a:xfrm>
            <a:off x="1468119" y="1131120"/>
            <a:ext cx="10068561" cy="914401"/>
          </a:xfrm>
          <a:prstGeom prst="rect">
            <a:avLst/>
          </a:prstGeom>
        </p:spPr>
        <p:txBody>
          <a:bodyPr>
            <a:normAutofit fontScale="90000"/>
          </a:bodyPr>
          <a:lstStyle>
            <a:lvl1pPr>
              <a:defRPr sz="5800" b="1">
                <a:effectLst>
                  <a:outerShdw blurRad="38100" dist="38100" dir="2700000" rotWithShape="0">
                    <a:srgbClr val="000000">
                      <a:alpha val="43137"/>
                    </a:srgbClr>
                  </a:outerShdw>
                </a:effectLst>
                <a:latin typeface="+mn-lt"/>
                <a:ea typeface="+mn-ea"/>
                <a:cs typeface="+mn-cs"/>
                <a:sym typeface="Times New Roman"/>
              </a:defRPr>
            </a:lvl1pPr>
          </a:lstStyle>
          <a:p>
            <a:r>
              <a:rPr lang="en-IN" dirty="0"/>
              <a:t>Objective</a:t>
            </a:r>
            <a:endParaRPr dirty="0"/>
          </a:p>
        </p:txBody>
      </p:sp>
      <p:sp>
        <p:nvSpPr>
          <p:cNvPr id="109" name="Slide Number Placeholder 4">
            <a:extLst>
              <a:ext uri="{FF2B5EF4-FFF2-40B4-BE49-F238E27FC236}">
                <a16:creationId xmlns:a16="http://schemas.microsoft.com/office/drawing/2014/main" id="{0583C513-CA62-FF61-8AAB-7BBB3FDE0BD7}"/>
              </a:ext>
            </a:extLst>
          </p:cNvPr>
          <p:cNvSpPr txBox="1">
            <a:spLocks noGrp="1"/>
          </p:cNvSpPr>
          <p:nvPr>
            <p:ph type="sldNum" sz="quarter" idx="2"/>
          </p:nvPr>
        </p:nvSpPr>
        <p:spPr>
          <a:xfrm>
            <a:off x="12397611" y="9004479"/>
            <a:ext cx="238973" cy="34627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a:t>
            </a:fld>
            <a:endParaRPr/>
          </a:p>
        </p:txBody>
      </p:sp>
      <p:pic>
        <p:nvPicPr>
          <p:cNvPr id="3" name="Picture 2">
            <a:extLst>
              <a:ext uri="{FF2B5EF4-FFF2-40B4-BE49-F238E27FC236}">
                <a16:creationId xmlns:a16="http://schemas.microsoft.com/office/drawing/2014/main" id="{B3E74099-05CA-27A6-5FDE-32AB8EF6D69C}"/>
              </a:ext>
            </a:extLst>
          </p:cNvPr>
          <p:cNvPicPr>
            <a:picLocks noChangeAspect="1"/>
          </p:cNvPicPr>
          <p:nvPr/>
        </p:nvPicPr>
        <p:blipFill>
          <a:blip r:embed="rId2"/>
          <a:stretch>
            <a:fillRect/>
          </a:stretch>
        </p:blipFill>
        <p:spPr>
          <a:xfrm>
            <a:off x="11557784" y="4876800"/>
            <a:ext cx="943107" cy="628738"/>
          </a:xfrm>
          <a:prstGeom prst="rect">
            <a:avLst/>
          </a:prstGeom>
        </p:spPr>
      </p:pic>
      <p:pic>
        <p:nvPicPr>
          <p:cNvPr id="4" name="Picture 3">
            <a:extLst>
              <a:ext uri="{FF2B5EF4-FFF2-40B4-BE49-F238E27FC236}">
                <a16:creationId xmlns:a16="http://schemas.microsoft.com/office/drawing/2014/main" id="{1563DA0F-77A4-8700-8A88-9E2E76FC635B}"/>
              </a:ext>
            </a:extLst>
          </p:cNvPr>
          <p:cNvPicPr>
            <a:picLocks noChangeAspect="1"/>
          </p:cNvPicPr>
          <p:nvPr/>
        </p:nvPicPr>
        <p:blipFill>
          <a:blip r:embed="rId3"/>
          <a:stretch>
            <a:fillRect/>
          </a:stretch>
        </p:blipFill>
        <p:spPr>
          <a:xfrm>
            <a:off x="10111408" y="1"/>
            <a:ext cx="2893391" cy="774661"/>
          </a:xfrm>
          <a:prstGeom prst="rect">
            <a:avLst/>
          </a:prstGeom>
        </p:spPr>
      </p:pic>
      <p:sp>
        <p:nvSpPr>
          <p:cNvPr id="5" name="TextBox 4">
            <a:extLst>
              <a:ext uri="{FF2B5EF4-FFF2-40B4-BE49-F238E27FC236}">
                <a16:creationId xmlns:a16="http://schemas.microsoft.com/office/drawing/2014/main" id="{FF241E88-9391-DFA1-6CCF-1C789BBAA623}"/>
              </a:ext>
            </a:extLst>
          </p:cNvPr>
          <p:cNvSpPr txBox="1"/>
          <p:nvPr/>
        </p:nvSpPr>
        <p:spPr>
          <a:xfrm>
            <a:off x="503909" y="2779189"/>
            <a:ext cx="11489307" cy="538609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lvl="0" indent="-457200" algn="just">
              <a:buFont typeface="Arial" panose="020B0604020202020204" pitchFamily="34" charset="0"/>
              <a:buChar char="•"/>
            </a:pPr>
            <a:r>
              <a:rPr lang="en-US" sz="2800" dirty="0"/>
              <a:t>To design and implement the lossless image compression algorithm as a synthesizable Verilog RTL architecture.</a:t>
            </a:r>
            <a:endParaRPr lang="en-IN" sz="2800" dirty="0"/>
          </a:p>
          <a:p>
            <a:pPr marL="457200" lvl="0" indent="-457200" algn="just">
              <a:buFont typeface="Arial" panose="020B0604020202020204" pitchFamily="34" charset="0"/>
              <a:buChar char="•"/>
            </a:pPr>
            <a:r>
              <a:rPr lang="en-US" sz="2800" dirty="0"/>
              <a:t>To reduce computational complexity through the MED predictor and adaptive Rice Golomb entropy coder.</a:t>
            </a:r>
            <a:endParaRPr lang="en-IN" sz="2800" dirty="0"/>
          </a:p>
          <a:p>
            <a:pPr marL="457200" lvl="0" indent="-457200" algn="just">
              <a:buFont typeface="Arial" panose="020B0604020202020204" pitchFamily="34" charset="0"/>
              <a:buChar char="•"/>
            </a:pPr>
            <a:r>
              <a:rPr lang="en-US" sz="2800" dirty="0"/>
              <a:t>To integrate the design as an AXI4 and package it using Xilinx </a:t>
            </a:r>
            <a:r>
              <a:rPr lang="en-US" sz="2800" dirty="0" err="1"/>
              <a:t>Vivado</a:t>
            </a:r>
            <a:r>
              <a:rPr lang="en-US" sz="2800" dirty="0"/>
              <a:t> IP Packager.</a:t>
            </a:r>
            <a:endParaRPr lang="en-IN" sz="2800" dirty="0"/>
          </a:p>
          <a:p>
            <a:pPr marL="457200" lvl="0" indent="-457200" algn="just">
              <a:buFont typeface="Arial" panose="020B0604020202020204" pitchFamily="34" charset="0"/>
              <a:buChar char="•"/>
            </a:pPr>
            <a:r>
              <a:rPr lang="en-US" sz="2800" dirty="0"/>
              <a:t>To validate functional correctness using simulation and hardware verification on the PYNQ-Z1 platform.</a:t>
            </a:r>
            <a:endParaRPr lang="en-IN" sz="2800" dirty="0"/>
          </a:p>
          <a:p>
            <a:pPr marL="457200" lvl="0" indent="-457200" algn="just">
              <a:buFont typeface="Arial" panose="020B0604020202020204" pitchFamily="34" charset="0"/>
              <a:buChar char="•"/>
            </a:pPr>
            <a:r>
              <a:rPr lang="en-US" sz="2800" dirty="0"/>
              <a:t>To evaluate compression performance (BPP, CR) on a standard benchmark dataset and compare with the software LOCO-I baseline.</a:t>
            </a:r>
            <a:endParaRPr lang="en-IN" sz="2800" dirty="0"/>
          </a:p>
          <a:p>
            <a:pPr marL="457200" lvl="0" indent="-457200" algn="just">
              <a:buFont typeface="Arial" panose="020B0604020202020204" pitchFamily="34" charset="0"/>
              <a:buChar char="•"/>
            </a:pPr>
            <a:r>
              <a:rPr lang="en-US" sz="2800" dirty="0"/>
              <a:t>To analyze FPGA resource utilization and power consumption post-implementation.</a:t>
            </a:r>
            <a:endParaRPr lang="en-IN" sz="2800" dirty="0"/>
          </a:p>
        </p:txBody>
      </p:sp>
    </p:spTree>
    <p:extLst>
      <p:ext uri="{BB962C8B-B14F-4D97-AF65-F5344CB8AC3E}">
        <p14:creationId xmlns:p14="http://schemas.microsoft.com/office/powerpoint/2010/main" val="28759849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441EA-22ED-623D-6907-6FE268512D37}"/>
            </a:ext>
          </a:extLst>
        </p:cNvPr>
        <p:cNvGrpSpPr/>
        <p:nvPr/>
      </p:nvGrpSpPr>
      <p:grpSpPr>
        <a:xfrm>
          <a:off x="0" y="0"/>
          <a:ext cx="0" cy="0"/>
          <a:chOff x="0" y="0"/>
          <a:chExt cx="0" cy="0"/>
        </a:xfrm>
      </p:grpSpPr>
      <p:sp>
        <p:nvSpPr>
          <p:cNvPr id="138" name="Slide Number Placeholder 4">
            <a:extLst>
              <a:ext uri="{FF2B5EF4-FFF2-40B4-BE49-F238E27FC236}">
                <a16:creationId xmlns:a16="http://schemas.microsoft.com/office/drawing/2014/main" id="{B3874FE8-B462-7C18-D574-DB30BEFAFD1F}"/>
              </a:ext>
            </a:extLst>
          </p:cNvPr>
          <p:cNvSpPr txBox="1">
            <a:spLocks noGrp="1"/>
          </p:cNvSpPr>
          <p:nvPr>
            <p:ph type="sldNum" sz="quarter" idx="2"/>
          </p:nvPr>
        </p:nvSpPr>
        <p:spPr>
          <a:xfrm>
            <a:off x="12383772" y="9059834"/>
            <a:ext cx="238974" cy="34627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139" name="Title 1">
            <a:extLst>
              <a:ext uri="{FF2B5EF4-FFF2-40B4-BE49-F238E27FC236}">
                <a16:creationId xmlns:a16="http://schemas.microsoft.com/office/drawing/2014/main" id="{13F5E26D-1520-447F-8ACD-B390C33CF443}"/>
              </a:ext>
            </a:extLst>
          </p:cNvPr>
          <p:cNvSpPr txBox="1">
            <a:spLocks noGrp="1"/>
          </p:cNvSpPr>
          <p:nvPr>
            <p:ph type="title"/>
          </p:nvPr>
        </p:nvSpPr>
        <p:spPr>
          <a:xfrm>
            <a:off x="1625599" y="317461"/>
            <a:ext cx="9753602" cy="914401"/>
          </a:xfrm>
          <a:prstGeom prst="rect">
            <a:avLst/>
          </a:prstGeom>
        </p:spPr>
        <p:txBody>
          <a:bodyPr>
            <a:normAutofit fontScale="90000"/>
          </a:bodyPr>
          <a:lstStyle>
            <a:lvl1pPr>
              <a:defRPr sz="5800" b="1">
                <a:effectLst>
                  <a:outerShdw blurRad="38100" dist="38100" dir="2700000" rotWithShape="0">
                    <a:srgbClr val="000000">
                      <a:alpha val="43137"/>
                    </a:srgbClr>
                  </a:outerShdw>
                </a:effectLst>
                <a:latin typeface="+mn-lt"/>
                <a:ea typeface="+mn-ea"/>
                <a:cs typeface="+mn-cs"/>
                <a:sym typeface="Times New Roman"/>
              </a:defRPr>
            </a:lvl1pPr>
          </a:lstStyle>
          <a:p>
            <a:r>
              <a:rPr dirty="0"/>
              <a:t>Time Line</a:t>
            </a:r>
          </a:p>
        </p:txBody>
      </p:sp>
      <p:sp>
        <p:nvSpPr>
          <p:cNvPr id="3" name="TextBox 2">
            <a:extLst>
              <a:ext uri="{FF2B5EF4-FFF2-40B4-BE49-F238E27FC236}">
                <a16:creationId xmlns:a16="http://schemas.microsoft.com/office/drawing/2014/main" id="{3FCB391E-1713-FBD8-7F23-FEAFD7629FCA}"/>
              </a:ext>
            </a:extLst>
          </p:cNvPr>
          <p:cNvSpPr txBox="1"/>
          <p:nvPr/>
        </p:nvSpPr>
        <p:spPr>
          <a:xfrm>
            <a:off x="247374" y="1151146"/>
            <a:ext cx="12510052" cy="797141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buNone/>
            </a:pPr>
            <a:r>
              <a:rPr lang="en-US" b="1" dirty="0">
                <a:solidFill>
                  <a:srgbClr val="00B050"/>
                </a:solidFill>
              </a:rPr>
              <a:t>Weeks 1–2: Foundation &amp; Modeling</a:t>
            </a:r>
          </a:p>
          <a:p>
            <a:pPr algn="just">
              <a:buNone/>
            </a:pPr>
            <a:r>
              <a:rPr lang="en-US" dirty="0">
                <a:solidFill>
                  <a:srgbClr val="00B050"/>
                </a:solidFill>
              </a:rPr>
              <a:t>Finalize algorithm details and precisely define the predictor and residual models.</a:t>
            </a:r>
          </a:p>
          <a:p>
            <a:pPr algn="just">
              <a:buNone/>
            </a:pPr>
            <a:r>
              <a:rPr lang="en-US" b="1" dirty="0">
                <a:solidFill>
                  <a:srgbClr val="00B050"/>
                </a:solidFill>
              </a:rPr>
              <a:t>Weeks 3–4: Encoder RTL Design</a:t>
            </a:r>
          </a:p>
          <a:p>
            <a:pPr algn="just">
              <a:buNone/>
            </a:pPr>
            <a:r>
              <a:rPr lang="en-US" dirty="0">
                <a:solidFill>
                  <a:srgbClr val="00B050"/>
                </a:solidFill>
              </a:rPr>
              <a:t>Develop Register-Transfer Level (RTL) architecture for the Line Buffer, Predictor, and Entropy Encoder.</a:t>
            </a:r>
          </a:p>
          <a:p>
            <a:pPr algn="just">
              <a:buNone/>
            </a:pPr>
            <a:r>
              <a:rPr lang="en-US" b="1" dirty="0">
                <a:solidFill>
                  <a:srgbClr val="00B050"/>
                </a:solidFill>
              </a:rPr>
              <a:t>Weeks 5–6: Decoder RTL &amp; Integration</a:t>
            </a:r>
          </a:p>
          <a:p>
            <a:pPr algn="just">
              <a:buNone/>
            </a:pPr>
            <a:r>
              <a:rPr lang="en-US" dirty="0">
                <a:solidFill>
                  <a:srgbClr val="00B050"/>
                </a:solidFill>
              </a:rPr>
              <a:t>Design the decoder RTL and integrate it with the encoder module.</a:t>
            </a:r>
          </a:p>
          <a:p>
            <a:pPr algn="just">
              <a:buNone/>
            </a:pPr>
            <a:r>
              <a:rPr lang="en-US" b="1" dirty="0">
                <a:solidFill>
                  <a:srgbClr val="00B050"/>
                </a:solidFill>
              </a:rPr>
              <a:t>Weeks 7–8: Simulation &amp; Verification</a:t>
            </a:r>
          </a:p>
          <a:p>
            <a:pPr algn="just">
              <a:buNone/>
            </a:pPr>
            <a:r>
              <a:rPr lang="en-US" dirty="0">
                <a:solidFill>
                  <a:srgbClr val="00B050"/>
                </a:solidFill>
              </a:rPr>
              <a:t>Simulation of Encoder is verified Successfully</a:t>
            </a:r>
          </a:p>
          <a:p>
            <a:pPr algn="just">
              <a:buNone/>
            </a:pPr>
            <a:r>
              <a:rPr lang="en-US" b="1" dirty="0">
                <a:solidFill>
                  <a:srgbClr val="00B050"/>
                </a:solidFill>
              </a:rPr>
              <a:t>Weeks 9–10: FPGA Implementation &amp; Optimization</a:t>
            </a:r>
          </a:p>
          <a:p>
            <a:pPr algn="just">
              <a:buNone/>
            </a:pPr>
            <a:r>
              <a:rPr lang="en-US" dirty="0">
                <a:solidFill>
                  <a:srgbClr val="00B050"/>
                </a:solidFill>
              </a:rPr>
              <a:t>Perform FPGA synthesis, detailed timing analysis, and implement critical optimizations with GUI.</a:t>
            </a:r>
          </a:p>
          <a:p>
            <a:pPr algn="just">
              <a:buNone/>
            </a:pPr>
            <a:r>
              <a:rPr lang="en-US" b="1" dirty="0">
                <a:solidFill>
                  <a:srgbClr val="00B050"/>
                </a:solidFill>
              </a:rPr>
              <a:t>Week 11: Evaluation &amp; Documentation</a:t>
            </a:r>
          </a:p>
          <a:p>
            <a:pPr algn="just">
              <a:buNone/>
            </a:pPr>
            <a:r>
              <a:rPr lang="en-US" dirty="0">
                <a:solidFill>
                  <a:srgbClr val="00B050"/>
                </a:solidFill>
              </a:rPr>
              <a:t>Final performance evaluation, comprehensive testing, and completion of all project documentation.</a:t>
            </a:r>
          </a:p>
        </p:txBody>
      </p:sp>
      <p:pic>
        <p:nvPicPr>
          <p:cNvPr id="2" name="Picture 1">
            <a:extLst>
              <a:ext uri="{FF2B5EF4-FFF2-40B4-BE49-F238E27FC236}">
                <a16:creationId xmlns:a16="http://schemas.microsoft.com/office/drawing/2014/main" id="{CE501801-7DAA-2A8D-2EFE-9C81E875C0BA}"/>
              </a:ext>
            </a:extLst>
          </p:cNvPr>
          <p:cNvPicPr>
            <a:picLocks noChangeAspect="1"/>
          </p:cNvPicPr>
          <p:nvPr/>
        </p:nvPicPr>
        <p:blipFill>
          <a:blip r:embed="rId2"/>
          <a:stretch>
            <a:fillRect/>
          </a:stretch>
        </p:blipFill>
        <p:spPr>
          <a:xfrm>
            <a:off x="10111408" y="1"/>
            <a:ext cx="2893391" cy="774661"/>
          </a:xfrm>
          <a:prstGeom prst="rect">
            <a:avLst/>
          </a:prstGeom>
        </p:spPr>
      </p:pic>
    </p:spTree>
    <p:extLst>
      <p:ext uri="{BB962C8B-B14F-4D97-AF65-F5344CB8AC3E}">
        <p14:creationId xmlns:p14="http://schemas.microsoft.com/office/powerpoint/2010/main" val="364232468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401A1D-8000-8C85-1546-8E3E0A460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272" y="1231862"/>
            <a:ext cx="11484253" cy="8291880"/>
          </a:xfrm>
          <a:prstGeom prst="rect">
            <a:avLst/>
          </a:prstGeom>
        </p:spPr>
      </p:pic>
      <p:pic>
        <p:nvPicPr>
          <p:cNvPr id="5" name="Picture 4">
            <a:extLst>
              <a:ext uri="{FF2B5EF4-FFF2-40B4-BE49-F238E27FC236}">
                <a16:creationId xmlns:a16="http://schemas.microsoft.com/office/drawing/2014/main" id="{177D4DDA-2795-48D8-5B85-FAD99CE371BC}"/>
              </a:ext>
            </a:extLst>
          </p:cNvPr>
          <p:cNvPicPr>
            <a:picLocks noChangeAspect="1"/>
          </p:cNvPicPr>
          <p:nvPr/>
        </p:nvPicPr>
        <p:blipFill>
          <a:blip r:embed="rId3"/>
          <a:stretch>
            <a:fillRect/>
          </a:stretch>
        </p:blipFill>
        <p:spPr>
          <a:xfrm>
            <a:off x="10111408" y="1"/>
            <a:ext cx="2893391" cy="774661"/>
          </a:xfrm>
          <a:prstGeom prst="rect">
            <a:avLst/>
          </a:prstGeom>
        </p:spPr>
      </p:pic>
      <p:sp>
        <p:nvSpPr>
          <p:cNvPr id="7" name="Title 1">
            <a:extLst>
              <a:ext uri="{FF2B5EF4-FFF2-40B4-BE49-F238E27FC236}">
                <a16:creationId xmlns:a16="http://schemas.microsoft.com/office/drawing/2014/main" id="{CBA6A31B-94EC-42E0-A552-E1C86E134CAA}"/>
              </a:ext>
            </a:extLst>
          </p:cNvPr>
          <p:cNvSpPr txBox="1">
            <a:spLocks/>
          </p:cNvSpPr>
          <p:nvPr/>
        </p:nvSpPr>
        <p:spPr>
          <a:xfrm>
            <a:off x="1625598" y="317461"/>
            <a:ext cx="9753602" cy="914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lnSpcReduction="100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IN" dirty="0"/>
              <a:t>Working Process</a:t>
            </a:r>
          </a:p>
        </p:txBody>
      </p:sp>
    </p:spTree>
    <p:extLst>
      <p:ext uri="{BB962C8B-B14F-4D97-AF65-F5344CB8AC3E}">
        <p14:creationId xmlns:p14="http://schemas.microsoft.com/office/powerpoint/2010/main" val="410589705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D49F5-2D4F-3A09-557A-BD3A8652839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60C1911-A2F3-7B02-DD88-AB2364A69F83}"/>
              </a:ext>
            </a:extLst>
          </p:cNvPr>
          <p:cNvPicPr>
            <a:picLocks noChangeAspect="1"/>
          </p:cNvPicPr>
          <p:nvPr/>
        </p:nvPicPr>
        <p:blipFill>
          <a:blip r:embed="rId2"/>
          <a:stretch>
            <a:fillRect/>
          </a:stretch>
        </p:blipFill>
        <p:spPr>
          <a:xfrm>
            <a:off x="10111408" y="1"/>
            <a:ext cx="2893391" cy="774661"/>
          </a:xfrm>
          <a:prstGeom prst="rect">
            <a:avLst/>
          </a:prstGeom>
        </p:spPr>
      </p:pic>
      <p:sp>
        <p:nvSpPr>
          <p:cNvPr id="7" name="Title 1">
            <a:extLst>
              <a:ext uri="{FF2B5EF4-FFF2-40B4-BE49-F238E27FC236}">
                <a16:creationId xmlns:a16="http://schemas.microsoft.com/office/drawing/2014/main" id="{0D5BB92F-C7EB-306D-974A-60C5B3307196}"/>
              </a:ext>
            </a:extLst>
          </p:cNvPr>
          <p:cNvSpPr txBox="1">
            <a:spLocks/>
          </p:cNvSpPr>
          <p:nvPr/>
        </p:nvSpPr>
        <p:spPr>
          <a:xfrm>
            <a:off x="1625598" y="317461"/>
            <a:ext cx="9753602" cy="914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8767" tIns="48767" rIns="48767" bIns="48767" anchor="ctr">
            <a:normAutofit fontScale="97500" lnSpcReduction="100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IN" dirty="0"/>
              <a:t>Escape coding</a:t>
            </a:r>
          </a:p>
        </p:txBody>
      </p:sp>
      <p:sp>
        <p:nvSpPr>
          <p:cNvPr id="6" name="TextBox 5">
            <a:extLst>
              <a:ext uri="{FF2B5EF4-FFF2-40B4-BE49-F238E27FC236}">
                <a16:creationId xmlns:a16="http://schemas.microsoft.com/office/drawing/2014/main" id="{7EB5821B-3808-2F63-7C09-2683DAF983A8}"/>
              </a:ext>
            </a:extLst>
          </p:cNvPr>
          <p:cNvSpPr txBox="1"/>
          <p:nvPr/>
        </p:nvSpPr>
        <p:spPr>
          <a:xfrm>
            <a:off x="821634" y="1728672"/>
            <a:ext cx="11105321" cy="674030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buNone/>
            </a:pPr>
            <a:r>
              <a:rPr lang="en-US" sz="2700" dirty="0"/>
              <a:t>Escape coding is used to handle residual values that cannot be efficiently represented using standard Golomb–Rice encoding. In predictive compression, most residual values are small, but occasionally large errors can occur due to sharp edges or sudden changes in intensity in the image.</a:t>
            </a:r>
          </a:p>
          <a:p>
            <a:pPr algn="just">
              <a:buNone/>
            </a:pPr>
            <a:endParaRPr lang="en-US" sz="2700" dirty="0"/>
          </a:p>
          <a:p>
            <a:pPr algn="just">
              <a:buNone/>
            </a:pPr>
            <a:r>
              <a:rPr lang="en-US" sz="2700" dirty="0"/>
              <a:t>When such large residual values appear, encoding them with Golomb–Rice coding can produce very long unary codes. This increases the bitstream size and reduces compression efficiency.</a:t>
            </a:r>
          </a:p>
          <a:p>
            <a:pPr algn="just">
              <a:buNone/>
            </a:pPr>
            <a:endParaRPr lang="en-US" sz="2700" dirty="0"/>
          </a:p>
          <a:p>
            <a:pPr algn="just">
              <a:buNone/>
            </a:pPr>
            <a:r>
              <a:rPr lang="en-US" sz="2700" dirty="0"/>
              <a:t>To solve this problem, an </a:t>
            </a:r>
            <a:r>
              <a:rPr lang="en-US" sz="2700" b="1" dirty="0"/>
              <a:t>escape unit</a:t>
            </a:r>
            <a:r>
              <a:rPr lang="en-US" sz="2700" dirty="0"/>
              <a:t> detects these large residual values and activates </a:t>
            </a:r>
            <a:r>
              <a:rPr lang="en-US" sz="2700" b="1" dirty="0"/>
              <a:t>escape mode</a:t>
            </a:r>
            <a:r>
              <a:rPr lang="en-US" sz="2700" dirty="0"/>
              <a:t>. Instead of Golomb Rice coding, the residual value is transmitted using a </a:t>
            </a:r>
            <a:r>
              <a:rPr lang="en-US" sz="2700" b="1" dirty="0"/>
              <a:t>fixed length representation</a:t>
            </a:r>
            <a:r>
              <a:rPr lang="en-US" sz="2700" dirty="0"/>
              <a:t>.</a:t>
            </a:r>
          </a:p>
          <a:p>
            <a:pPr algn="just">
              <a:buNone/>
            </a:pPr>
            <a:endParaRPr lang="en-US" sz="2700" dirty="0"/>
          </a:p>
          <a:p>
            <a:pPr algn="just">
              <a:buNone/>
            </a:pPr>
            <a:r>
              <a:rPr lang="en-US" sz="2700" dirty="0"/>
              <a:t>This mechanism prevents inefficient encoding and ensures that all residual values can be encoded reliably while maintaining </a:t>
            </a:r>
            <a:r>
              <a:rPr lang="en-US" sz="2700" b="1" dirty="0"/>
              <a:t>stable compression performance and simple decoding</a:t>
            </a:r>
            <a:r>
              <a:rPr lang="en-US" sz="2700" dirty="0"/>
              <a:t>.</a:t>
            </a:r>
          </a:p>
        </p:txBody>
      </p:sp>
    </p:spTree>
    <p:extLst>
      <p:ext uri="{BB962C8B-B14F-4D97-AF65-F5344CB8AC3E}">
        <p14:creationId xmlns:p14="http://schemas.microsoft.com/office/powerpoint/2010/main" val="383106255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8C2E8-3CDD-2E77-AA1F-B6A0661A2AB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37C8D9-E8C5-985B-3E00-437FD949A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246" y="761999"/>
            <a:ext cx="11326307" cy="8229602"/>
          </a:xfrm>
          <a:prstGeom prst="rect">
            <a:avLst/>
          </a:prstGeom>
        </p:spPr>
      </p:pic>
      <p:pic>
        <p:nvPicPr>
          <p:cNvPr id="3" name="Picture 2">
            <a:extLst>
              <a:ext uri="{FF2B5EF4-FFF2-40B4-BE49-F238E27FC236}">
                <a16:creationId xmlns:a16="http://schemas.microsoft.com/office/drawing/2014/main" id="{24C1F9E8-AD5F-A160-7F4F-7C9AFC81B795}"/>
              </a:ext>
            </a:extLst>
          </p:cNvPr>
          <p:cNvPicPr>
            <a:picLocks noChangeAspect="1"/>
          </p:cNvPicPr>
          <p:nvPr/>
        </p:nvPicPr>
        <p:blipFill>
          <a:blip r:embed="rId3"/>
          <a:stretch>
            <a:fillRect/>
          </a:stretch>
        </p:blipFill>
        <p:spPr>
          <a:xfrm>
            <a:off x="10111408" y="1"/>
            <a:ext cx="2893391" cy="774661"/>
          </a:xfrm>
          <a:prstGeom prst="rect">
            <a:avLst/>
          </a:prstGeom>
        </p:spPr>
      </p:pic>
    </p:spTree>
    <p:extLst>
      <p:ext uri="{BB962C8B-B14F-4D97-AF65-F5344CB8AC3E}">
        <p14:creationId xmlns:p14="http://schemas.microsoft.com/office/powerpoint/2010/main" val="322745339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8678-9A87-F3B8-B6A6-030B177549D3}"/>
            </a:ext>
          </a:extLst>
        </p:cNvPr>
        <p:cNvGrpSpPr/>
        <p:nvPr/>
      </p:nvGrpSpPr>
      <p:grpSpPr>
        <a:xfrm>
          <a:off x="0" y="0"/>
          <a:ext cx="0" cy="0"/>
          <a:chOff x="0" y="0"/>
          <a:chExt cx="0" cy="0"/>
        </a:xfrm>
      </p:grpSpPr>
      <p:sp>
        <p:nvSpPr>
          <p:cNvPr id="130" name="Slide Number Placeholder 4">
            <a:extLst>
              <a:ext uri="{FF2B5EF4-FFF2-40B4-BE49-F238E27FC236}">
                <a16:creationId xmlns:a16="http://schemas.microsoft.com/office/drawing/2014/main" id="{6E3A8D7F-9551-9FA5-0F67-15B75AA825D2}"/>
              </a:ext>
            </a:extLst>
          </p:cNvPr>
          <p:cNvSpPr txBox="1">
            <a:spLocks noGrp="1"/>
          </p:cNvSpPr>
          <p:nvPr>
            <p:ph type="sldNum" sz="quarter" idx="2"/>
          </p:nvPr>
        </p:nvSpPr>
        <p:spPr>
          <a:xfrm>
            <a:off x="12369933" y="9101351"/>
            <a:ext cx="238973" cy="3462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8</a:t>
            </a:fld>
            <a:endParaRPr/>
          </a:p>
        </p:txBody>
      </p:sp>
      <p:sp>
        <p:nvSpPr>
          <p:cNvPr id="2" name="AutoShape 2">
            <a:extLst>
              <a:ext uri="{FF2B5EF4-FFF2-40B4-BE49-F238E27FC236}">
                <a16:creationId xmlns:a16="http://schemas.microsoft.com/office/drawing/2014/main" id="{293B9E81-1E57-F876-3384-C538220AF850}"/>
              </a:ext>
            </a:extLst>
          </p:cNvPr>
          <p:cNvSpPr>
            <a:spLocks noChangeAspect="1" noChangeArrowheads="1"/>
          </p:cNvSpPr>
          <p:nvPr/>
        </p:nvSpPr>
        <p:spPr bwMode="auto">
          <a:xfrm>
            <a:off x="6349999" y="1691861"/>
            <a:ext cx="3337339" cy="333733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5E1D617B-94AD-E719-2AB3-1F7B8B1052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958" y="3448050"/>
            <a:ext cx="6349999" cy="3162300"/>
          </a:xfrm>
          <a:prstGeom prst="rect">
            <a:avLst/>
          </a:prstGeom>
          <a:ln>
            <a:solidFill>
              <a:schemeClr val="bg1"/>
            </a:solidFill>
          </a:ln>
        </p:spPr>
      </p:pic>
      <p:pic>
        <p:nvPicPr>
          <p:cNvPr id="9" name="Picture 8">
            <a:extLst>
              <a:ext uri="{FF2B5EF4-FFF2-40B4-BE49-F238E27FC236}">
                <a16:creationId xmlns:a16="http://schemas.microsoft.com/office/drawing/2014/main" id="{2D69478D-D4E9-8BF5-AFDE-CE693BF7FA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2701" y="3693975"/>
            <a:ext cx="4609273" cy="2719139"/>
          </a:xfrm>
          <a:prstGeom prst="rect">
            <a:avLst/>
          </a:prstGeom>
        </p:spPr>
      </p:pic>
      <p:pic>
        <p:nvPicPr>
          <p:cNvPr id="6" name="Picture 5">
            <a:extLst>
              <a:ext uri="{FF2B5EF4-FFF2-40B4-BE49-F238E27FC236}">
                <a16:creationId xmlns:a16="http://schemas.microsoft.com/office/drawing/2014/main" id="{A4AABAEE-AB61-60B0-C833-19914D51F786}"/>
              </a:ext>
            </a:extLst>
          </p:cNvPr>
          <p:cNvPicPr>
            <a:picLocks noChangeAspect="1"/>
          </p:cNvPicPr>
          <p:nvPr/>
        </p:nvPicPr>
        <p:blipFill>
          <a:blip r:embed="rId4"/>
          <a:stretch>
            <a:fillRect/>
          </a:stretch>
        </p:blipFill>
        <p:spPr>
          <a:xfrm>
            <a:off x="10111408" y="1"/>
            <a:ext cx="2893391" cy="774661"/>
          </a:xfrm>
          <a:prstGeom prst="rect">
            <a:avLst/>
          </a:prstGeom>
        </p:spPr>
      </p:pic>
      <p:sp>
        <p:nvSpPr>
          <p:cNvPr id="8" name="Title 1">
            <a:extLst>
              <a:ext uri="{FF2B5EF4-FFF2-40B4-BE49-F238E27FC236}">
                <a16:creationId xmlns:a16="http://schemas.microsoft.com/office/drawing/2014/main" id="{3940DA0F-E084-D5CB-DA92-2D9D07698C04}"/>
              </a:ext>
            </a:extLst>
          </p:cNvPr>
          <p:cNvSpPr txBox="1">
            <a:spLocks/>
          </p:cNvSpPr>
          <p:nvPr/>
        </p:nvSpPr>
        <p:spPr>
          <a:xfrm>
            <a:off x="1625599" y="317461"/>
            <a:ext cx="9753602" cy="914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lnSpcReduction="100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IN" dirty="0"/>
              <a:t>Rice Encoder FSM</a:t>
            </a:r>
          </a:p>
        </p:txBody>
      </p:sp>
    </p:spTree>
    <p:extLst>
      <p:ext uri="{BB962C8B-B14F-4D97-AF65-F5344CB8AC3E}">
        <p14:creationId xmlns:p14="http://schemas.microsoft.com/office/powerpoint/2010/main" val="369663091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DD04C-1C64-1917-6BF2-A15E0E49A320}"/>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E5F79F1E-3BC7-4946-6A4B-2F0A7AE84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47" y="1428629"/>
            <a:ext cx="13145093" cy="6795237"/>
          </a:xfrm>
          <a:prstGeom prst="rect">
            <a:avLst/>
          </a:prstGeom>
        </p:spPr>
      </p:pic>
      <p:sp>
        <p:nvSpPr>
          <p:cNvPr id="130" name="Slide Number Placeholder 4">
            <a:extLst>
              <a:ext uri="{FF2B5EF4-FFF2-40B4-BE49-F238E27FC236}">
                <a16:creationId xmlns:a16="http://schemas.microsoft.com/office/drawing/2014/main" id="{BBF705DB-7F98-34BB-C3EF-AFF24757103D}"/>
              </a:ext>
            </a:extLst>
          </p:cNvPr>
          <p:cNvSpPr txBox="1">
            <a:spLocks noGrp="1"/>
          </p:cNvSpPr>
          <p:nvPr>
            <p:ph type="sldNum" sz="quarter" idx="2"/>
          </p:nvPr>
        </p:nvSpPr>
        <p:spPr>
          <a:xfrm>
            <a:off x="12369933" y="9101351"/>
            <a:ext cx="238973" cy="3462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9</a:t>
            </a:fld>
            <a:endParaRPr/>
          </a:p>
        </p:txBody>
      </p:sp>
      <p:pic>
        <p:nvPicPr>
          <p:cNvPr id="12" name="Picture 11">
            <a:extLst>
              <a:ext uri="{FF2B5EF4-FFF2-40B4-BE49-F238E27FC236}">
                <a16:creationId xmlns:a16="http://schemas.microsoft.com/office/drawing/2014/main" id="{72FFC376-8240-C467-2083-CD4386E6E9D2}"/>
              </a:ext>
            </a:extLst>
          </p:cNvPr>
          <p:cNvPicPr>
            <a:picLocks noChangeAspect="1"/>
          </p:cNvPicPr>
          <p:nvPr/>
        </p:nvPicPr>
        <p:blipFill>
          <a:blip r:embed="rId3"/>
          <a:stretch>
            <a:fillRect/>
          </a:stretch>
        </p:blipFill>
        <p:spPr>
          <a:xfrm>
            <a:off x="1722471" y="7338729"/>
            <a:ext cx="10964716" cy="761295"/>
          </a:xfrm>
          <a:prstGeom prst="rect">
            <a:avLst/>
          </a:prstGeom>
        </p:spPr>
      </p:pic>
      <p:pic>
        <p:nvPicPr>
          <p:cNvPr id="14" name="Picture 13">
            <a:extLst>
              <a:ext uri="{FF2B5EF4-FFF2-40B4-BE49-F238E27FC236}">
                <a16:creationId xmlns:a16="http://schemas.microsoft.com/office/drawing/2014/main" id="{6162F18D-1CEF-BB00-9356-10515AA0DA08}"/>
              </a:ext>
            </a:extLst>
          </p:cNvPr>
          <p:cNvPicPr>
            <a:picLocks noChangeAspect="1"/>
          </p:cNvPicPr>
          <p:nvPr/>
        </p:nvPicPr>
        <p:blipFill>
          <a:blip r:embed="rId3"/>
          <a:stretch>
            <a:fillRect/>
          </a:stretch>
        </p:blipFill>
        <p:spPr>
          <a:xfrm>
            <a:off x="1323273" y="9026805"/>
            <a:ext cx="2467319" cy="247685"/>
          </a:xfrm>
          <a:prstGeom prst="rect">
            <a:avLst/>
          </a:prstGeom>
        </p:spPr>
      </p:pic>
      <p:pic>
        <p:nvPicPr>
          <p:cNvPr id="18" name="Picture 17">
            <a:extLst>
              <a:ext uri="{FF2B5EF4-FFF2-40B4-BE49-F238E27FC236}">
                <a16:creationId xmlns:a16="http://schemas.microsoft.com/office/drawing/2014/main" id="{C651540D-ADA0-49C2-9357-CFB3D87AE13B}"/>
              </a:ext>
            </a:extLst>
          </p:cNvPr>
          <p:cNvPicPr>
            <a:picLocks noChangeAspect="1"/>
          </p:cNvPicPr>
          <p:nvPr/>
        </p:nvPicPr>
        <p:blipFill>
          <a:blip r:embed="rId4"/>
          <a:stretch>
            <a:fillRect/>
          </a:stretch>
        </p:blipFill>
        <p:spPr>
          <a:xfrm>
            <a:off x="11005115" y="7976181"/>
            <a:ext cx="1971950" cy="247685"/>
          </a:xfrm>
          <a:prstGeom prst="rect">
            <a:avLst/>
          </a:prstGeom>
        </p:spPr>
      </p:pic>
      <p:sp>
        <p:nvSpPr>
          <p:cNvPr id="2" name="Title 1">
            <a:extLst>
              <a:ext uri="{FF2B5EF4-FFF2-40B4-BE49-F238E27FC236}">
                <a16:creationId xmlns:a16="http://schemas.microsoft.com/office/drawing/2014/main" id="{EF2CF41B-544E-102B-69C7-18131169D953}"/>
              </a:ext>
            </a:extLst>
          </p:cNvPr>
          <p:cNvSpPr txBox="1">
            <a:spLocks/>
          </p:cNvSpPr>
          <p:nvPr/>
        </p:nvSpPr>
        <p:spPr>
          <a:xfrm>
            <a:off x="1625598" y="569959"/>
            <a:ext cx="9753602" cy="914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lnSpcReduction="100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IN" dirty="0"/>
              <a:t>Performance Metrics</a:t>
            </a:r>
          </a:p>
        </p:txBody>
      </p:sp>
      <p:pic>
        <p:nvPicPr>
          <p:cNvPr id="5" name="Picture 4">
            <a:extLst>
              <a:ext uri="{FF2B5EF4-FFF2-40B4-BE49-F238E27FC236}">
                <a16:creationId xmlns:a16="http://schemas.microsoft.com/office/drawing/2014/main" id="{9FC85CB7-FFAC-0D0E-0807-BBDA5F111BAB}"/>
              </a:ext>
            </a:extLst>
          </p:cNvPr>
          <p:cNvPicPr>
            <a:picLocks noChangeAspect="1"/>
          </p:cNvPicPr>
          <p:nvPr/>
        </p:nvPicPr>
        <p:blipFill>
          <a:blip r:embed="rId5"/>
          <a:stretch>
            <a:fillRect/>
          </a:stretch>
        </p:blipFill>
        <p:spPr>
          <a:xfrm>
            <a:off x="10040904" y="7698233"/>
            <a:ext cx="2936161" cy="169394"/>
          </a:xfrm>
          <a:prstGeom prst="rect">
            <a:avLst/>
          </a:prstGeom>
        </p:spPr>
      </p:pic>
      <p:pic>
        <p:nvPicPr>
          <p:cNvPr id="4" name="Picture 3">
            <a:extLst>
              <a:ext uri="{FF2B5EF4-FFF2-40B4-BE49-F238E27FC236}">
                <a16:creationId xmlns:a16="http://schemas.microsoft.com/office/drawing/2014/main" id="{39D23EA4-4F07-629D-6FFD-B5CE04004C1B}"/>
              </a:ext>
            </a:extLst>
          </p:cNvPr>
          <p:cNvPicPr>
            <a:picLocks noChangeAspect="1"/>
          </p:cNvPicPr>
          <p:nvPr/>
        </p:nvPicPr>
        <p:blipFill>
          <a:blip r:embed="rId6"/>
          <a:stretch>
            <a:fillRect/>
          </a:stretch>
        </p:blipFill>
        <p:spPr>
          <a:xfrm>
            <a:off x="10111408" y="1"/>
            <a:ext cx="2893391" cy="774661"/>
          </a:xfrm>
          <a:prstGeom prst="rect">
            <a:avLst/>
          </a:prstGeom>
        </p:spPr>
      </p:pic>
    </p:spTree>
    <p:extLst>
      <p:ext uri="{BB962C8B-B14F-4D97-AF65-F5344CB8AC3E}">
        <p14:creationId xmlns:p14="http://schemas.microsoft.com/office/powerpoint/2010/main" val="308469886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6978B-9B00-28C4-56A3-725603DED7B5}"/>
            </a:ext>
          </a:extLst>
        </p:cNvPr>
        <p:cNvGrpSpPr/>
        <p:nvPr/>
      </p:nvGrpSpPr>
      <p:grpSpPr>
        <a:xfrm>
          <a:off x="0" y="0"/>
          <a:ext cx="0" cy="0"/>
          <a:chOff x="0" y="0"/>
          <a:chExt cx="0" cy="0"/>
        </a:xfrm>
      </p:grpSpPr>
      <p:sp>
        <p:nvSpPr>
          <p:cNvPr id="128" name="Title 1">
            <a:extLst>
              <a:ext uri="{FF2B5EF4-FFF2-40B4-BE49-F238E27FC236}">
                <a16:creationId xmlns:a16="http://schemas.microsoft.com/office/drawing/2014/main" id="{9E5B018F-F790-7BE6-06CA-10FDF2B8E292}"/>
              </a:ext>
            </a:extLst>
          </p:cNvPr>
          <p:cNvSpPr txBox="1">
            <a:spLocks noGrp="1"/>
          </p:cNvSpPr>
          <p:nvPr>
            <p:ph type="title"/>
          </p:nvPr>
        </p:nvSpPr>
        <p:spPr>
          <a:xfrm>
            <a:off x="1625598" y="437894"/>
            <a:ext cx="9753602" cy="914401"/>
          </a:xfrm>
          <a:prstGeom prst="rect">
            <a:avLst/>
          </a:prstGeom>
        </p:spPr>
        <p:txBody>
          <a:bodyPr>
            <a:normAutofit fontScale="90000"/>
          </a:bodyPr>
          <a:lstStyle>
            <a:lvl1pPr defTabSz="1456537">
              <a:defRPr sz="5880" b="1">
                <a:effectLst>
                  <a:outerShdw blurRad="32004" dist="32004" dir="2700000" rotWithShape="0">
                    <a:srgbClr val="000000">
                      <a:alpha val="43137"/>
                    </a:srgbClr>
                  </a:outerShdw>
                </a:effectLst>
                <a:latin typeface="+mn-lt"/>
                <a:ea typeface="+mn-ea"/>
                <a:cs typeface="+mn-cs"/>
                <a:sym typeface="Times New Roman"/>
              </a:defRPr>
            </a:lvl1pPr>
          </a:lstStyle>
          <a:p>
            <a:r>
              <a:rPr lang="en-IN" dirty="0"/>
              <a:t>RTL Netlist Synthesis</a:t>
            </a:r>
            <a:endParaRPr dirty="0"/>
          </a:p>
        </p:txBody>
      </p:sp>
      <p:sp>
        <p:nvSpPr>
          <p:cNvPr id="130" name="Slide Number Placeholder 4">
            <a:extLst>
              <a:ext uri="{FF2B5EF4-FFF2-40B4-BE49-F238E27FC236}">
                <a16:creationId xmlns:a16="http://schemas.microsoft.com/office/drawing/2014/main" id="{2F18A3C4-4FCC-85D8-51DF-0FA011675F47}"/>
              </a:ext>
            </a:extLst>
          </p:cNvPr>
          <p:cNvSpPr txBox="1">
            <a:spLocks noGrp="1"/>
          </p:cNvSpPr>
          <p:nvPr>
            <p:ph type="sldNum" sz="quarter" idx="2"/>
          </p:nvPr>
        </p:nvSpPr>
        <p:spPr>
          <a:xfrm>
            <a:off x="12369933" y="9101351"/>
            <a:ext cx="238973" cy="3462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10</a:t>
            </a:fld>
            <a:endParaRPr/>
          </a:p>
        </p:txBody>
      </p:sp>
      <p:pic>
        <p:nvPicPr>
          <p:cNvPr id="4" name="Picture 3">
            <a:extLst>
              <a:ext uri="{FF2B5EF4-FFF2-40B4-BE49-F238E27FC236}">
                <a16:creationId xmlns:a16="http://schemas.microsoft.com/office/drawing/2014/main" id="{E0A13B21-3A79-3972-1C4C-DB8B5A0BF8CB}"/>
              </a:ext>
            </a:extLst>
          </p:cNvPr>
          <p:cNvPicPr>
            <a:picLocks noChangeAspect="1"/>
          </p:cNvPicPr>
          <p:nvPr/>
        </p:nvPicPr>
        <p:blipFill>
          <a:blip r:embed="rId2"/>
          <a:srcRect t="7613" b="34332"/>
          <a:stretch>
            <a:fillRect/>
          </a:stretch>
        </p:blipFill>
        <p:spPr>
          <a:xfrm>
            <a:off x="-1" y="1294550"/>
            <a:ext cx="13004800" cy="3406876"/>
          </a:xfrm>
          <a:prstGeom prst="rect">
            <a:avLst/>
          </a:prstGeom>
        </p:spPr>
      </p:pic>
      <p:pic>
        <p:nvPicPr>
          <p:cNvPr id="2" name="Picture 1">
            <a:extLst>
              <a:ext uri="{FF2B5EF4-FFF2-40B4-BE49-F238E27FC236}">
                <a16:creationId xmlns:a16="http://schemas.microsoft.com/office/drawing/2014/main" id="{33DB69B6-98C9-5654-8EA9-8CB8787B13B0}"/>
              </a:ext>
            </a:extLst>
          </p:cNvPr>
          <p:cNvPicPr>
            <a:picLocks noChangeAspect="1"/>
          </p:cNvPicPr>
          <p:nvPr/>
        </p:nvPicPr>
        <p:blipFill>
          <a:blip r:embed="rId3"/>
          <a:stretch>
            <a:fillRect/>
          </a:stretch>
        </p:blipFill>
        <p:spPr>
          <a:xfrm>
            <a:off x="10111408" y="1"/>
            <a:ext cx="2893391" cy="774661"/>
          </a:xfrm>
          <a:prstGeom prst="rect">
            <a:avLst/>
          </a:prstGeom>
        </p:spPr>
      </p:pic>
      <p:pic>
        <p:nvPicPr>
          <p:cNvPr id="3" name="Picture 2">
            <a:extLst>
              <a:ext uri="{FF2B5EF4-FFF2-40B4-BE49-F238E27FC236}">
                <a16:creationId xmlns:a16="http://schemas.microsoft.com/office/drawing/2014/main" id="{965BCBBE-C6BF-FD21-7C43-B99604DCEE7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64736" y="5060686"/>
            <a:ext cx="8675325" cy="4474540"/>
          </a:xfrm>
          <a:prstGeom prst="rect">
            <a:avLst/>
          </a:prstGeom>
          <a:noFill/>
          <a:ln>
            <a:noFill/>
          </a:ln>
        </p:spPr>
      </p:pic>
      <p:sp>
        <p:nvSpPr>
          <p:cNvPr id="6" name="Title 1">
            <a:extLst>
              <a:ext uri="{FF2B5EF4-FFF2-40B4-BE49-F238E27FC236}">
                <a16:creationId xmlns:a16="http://schemas.microsoft.com/office/drawing/2014/main" id="{D3720B07-55D5-0B10-294D-81CE6BC7125F}"/>
              </a:ext>
            </a:extLst>
          </p:cNvPr>
          <p:cNvSpPr txBox="1">
            <a:spLocks/>
          </p:cNvSpPr>
          <p:nvPr/>
        </p:nvSpPr>
        <p:spPr>
          <a:xfrm>
            <a:off x="155710" y="1353936"/>
            <a:ext cx="2939776" cy="519888"/>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2400" dirty="0"/>
              <a:t>In Q</a:t>
            </a:r>
            <a:r>
              <a:rPr lang="en-IN" sz="2400" dirty="0" err="1"/>
              <a:t>uartus</a:t>
            </a:r>
            <a:r>
              <a:rPr lang="en-IN" sz="2400" dirty="0"/>
              <a:t> Prime:</a:t>
            </a:r>
          </a:p>
        </p:txBody>
      </p:sp>
      <p:sp>
        <p:nvSpPr>
          <p:cNvPr id="7" name="Title 1">
            <a:extLst>
              <a:ext uri="{FF2B5EF4-FFF2-40B4-BE49-F238E27FC236}">
                <a16:creationId xmlns:a16="http://schemas.microsoft.com/office/drawing/2014/main" id="{65761A12-3F67-42E0-ACD5-BEEAFBD7D9E1}"/>
              </a:ext>
            </a:extLst>
          </p:cNvPr>
          <p:cNvSpPr txBox="1">
            <a:spLocks/>
          </p:cNvSpPr>
          <p:nvPr/>
        </p:nvSpPr>
        <p:spPr>
          <a:xfrm>
            <a:off x="-321368" y="4441482"/>
            <a:ext cx="2939776" cy="519888"/>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2400" dirty="0"/>
              <a:t>In </a:t>
            </a:r>
            <a:r>
              <a:rPr lang="en-US" sz="2400" dirty="0" err="1"/>
              <a:t>Vivado</a:t>
            </a:r>
            <a:r>
              <a:rPr lang="en-IN" sz="2400" dirty="0"/>
              <a:t>:</a:t>
            </a:r>
          </a:p>
        </p:txBody>
      </p:sp>
    </p:spTree>
    <p:extLst>
      <p:ext uri="{BB962C8B-B14F-4D97-AF65-F5344CB8AC3E}">
        <p14:creationId xmlns:p14="http://schemas.microsoft.com/office/powerpoint/2010/main" val="236490155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1D97B-F2DF-D4E8-D905-0770FA38187A}"/>
              </a:ext>
            </a:extLst>
          </p:cNvPr>
          <p:cNvSpPr>
            <a:spLocks noGrp="1"/>
          </p:cNvSpPr>
          <p:nvPr>
            <p:ph type="title"/>
          </p:nvPr>
        </p:nvSpPr>
        <p:spPr/>
        <p:txBody>
          <a:bodyPr>
            <a:normAutofit fontScale="90000"/>
          </a:bodyPr>
          <a:lstStyle/>
          <a:p>
            <a:endParaRPr lang="en-IN"/>
          </a:p>
        </p:txBody>
      </p:sp>
      <p:sp>
        <p:nvSpPr>
          <p:cNvPr id="3" name="Text Placeholder 2">
            <a:extLst>
              <a:ext uri="{FF2B5EF4-FFF2-40B4-BE49-F238E27FC236}">
                <a16:creationId xmlns:a16="http://schemas.microsoft.com/office/drawing/2014/main" id="{1BAD8DE7-234E-26AA-AB82-33869BEFC953}"/>
              </a:ext>
            </a:extLst>
          </p:cNvPr>
          <p:cNvSpPr>
            <a:spLocks noGrp="1"/>
          </p:cNvSpPr>
          <p:nvPr>
            <p:ph type="body" sz="half" idx="1"/>
          </p:nvPr>
        </p:nvSpPr>
        <p:spPr/>
        <p:txBody>
          <a:bodyPr/>
          <a:lstStyle/>
          <a:p>
            <a:endParaRPr lang="en-IN"/>
          </a:p>
        </p:txBody>
      </p:sp>
      <p:pic>
        <p:nvPicPr>
          <p:cNvPr id="4" name="Picture 3">
            <a:extLst>
              <a:ext uri="{FF2B5EF4-FFF2-40B4-BE49-F238E27FC236}">
                <a16:creationId xmlns:a16="http://schemas.microsoft.com/office/drawing/2014/main" id="{F4DBB8A7-0874-8E0A-1F6A-66E9383878E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48070"/>
            <a:ext cx="12932477" cy="5658677"/>
          </a:xfrm>
          <a:prstGeom prst="rect">
            <a:avLst/>
          </a:prstGeom>
          <a:noFill/>
          <a:ln>
            <a:solidFill>
              <a:schemeClr val="tx1"/>
            </a:solidFill>
          </a:ln>
        </p:spPr>
      </p:pic>
      <p:sp>
        <p:nvSpPr>
          <p:cNvPr id="5" name="Title 1">
            <a:extLst>
              <a:ext uri="{FF2B5EF4-FFF2-40B4-BE49-F238E27FC236}">
                <a16:creationId xmlns:a16="http://schemas.microsoft.com/office/drawing/2014/main" id="{E1D7D1AE-D541-8BD2-98AC-3022A2DF6E43}"/>
              </a:ext>
            </a:extLst>
          </p:cNvPr>
          <p:cNvSpPr txBox="1">
            <a:spLocks/>
          </p:cNvSpPr>
          <p:nvPr/>
        </p:nvSpPr>
        <p:spPr>
          <a:xfrm>
            <a:off x="1625598" y="437894"/>
            <a:ext cx="9753602" cy="914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67500" lnSpcReduction="200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IN" dirty="0"/>
              <a:t>Hardware – Software Codesign Diagram</a:t>
            </a:r>
          </a:p>
        </p:txBody>
      </p:sp>
    </p:spTree>
    <p:extLst>
      <p:ext uri="{BB962C8B-B14F-4D97-AF65-F5344CB8AC3E}">
        <p14:creationId xmlns:p14="http://schemas.microsoft.com/office/powerpoint/2010/main" val="154506129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34F40-78F3-EB88-E97D-F3B411CA5AD3}"/>
            </a:ext>
          </a:extLst>
        </p:cNvPr>
        <p:cNvGrpSpPr/>
        <p:nvPr/>
      </p:nvGrpSpPr>
      <p:grpSpPr>
        <a:xfrm>
          <a:off x="0" y="0"/>
          <a:ext cx="0" cy="0"/>
          <a:chOff x="0" y="0"/>
          <a:chExt cx="0" cy="0"/>
        </a:xfrm>
      </p:grpSpPr>
      <p:sp>
        <p:nvSpPr>
          <p:cNvPr id="128" name="Title 1">
            <a:extLst>
              <a:ext uri="{FF2B5EF4-FFF2-40B4-BE49-F238E27FC236}">
                <a16:creationId xmlns:a16="http://schemas.microsoft.com/office/drawing/2014/main" id="{3819EADA-21F8-BC8B-77F9-0005BA536674}"/>
              </a:ext>
            </a:extLst>
          </p:cNvPr>
          <p:cNvSpPr txBox="1">
            <a:spLocks noGrp="1"/>
          </p:cNvSpPr>
          <p:nvPr>
            <p:ph type="title"/>
          </p:nvPr>
        </p:nvSpPr>
        <p:spPr>
          <a:xfrm>
            <a:off x="1625598" y="133726"/>
            <a:ext cx="9753602" cy="914401"/>
          </a:xfrm>
          <a:prstGeom prst="rect">
            <a:avLst/>
          </a:prstGeom>
        </p:spPr>
        <p:txBody>
          <a:bodyPr>
            <a:normAutofit fontScale="90000"/>
          </a:bodyPr>
          <a:lstStyle>
            <a:lvl1pPr defTabSz="1456537">
              <a:defRPr sz="5880" b="1">
                <a:effectLst>
                  <a:outerShdw blurRad="32004" dist="32004" dir="2700000" rotWithShape="0">
                    <a:srgbClr val="000000">
                      <a:alpha val="43137"/>
                    </a:srgbClr>
                  </a:outerShdw>
                </a:effectLst>
                <a:latin typeface="+mn-lt"/>
                <a:ea typeface="+mn-ea"/>
                <a:cs typeface="+mn-cs"/>
                <a:sym typeface="Times New Roman"/>
              </a:defRPr>
            </a:lvl1pPr>
          </a:lstStyle>
          <a:p>
            <a:r>
              <a:rPr lang="en-US" dirty="0"/>
              <a:t>O</a:t>
            </a:r>
            <a:r>
              <a:rPr lang="en-IN" dirty="0" err="1"/>
              <a:t>btained</a:t>
            </a:r>
            <a:r>
              <a:rPr lang="en-IN" dirty="0"/>
              <a:t> parameters</a:t>
            </a:r>
            <a:endParaRPr dirty="0"/>
          </a:p>
        </p:txBody>
      </p:sp>
      <p:sp>
        <p:nvSpPr>
          <p:cNvPr id="130" name="Slide Number Placeholder 4">
            <a:extLst>
              <a:ext uri="{FF2B5EF4-FFF2-40B4-BE49-F238E27FC236}">
                <a16:creationId xmlns:a16="http://schemas.microsoft.com/office/drawing/2014/main" id="{3AD3BA08-AAE8-795B-E8F3-BA1DE32E170C}"/>
              </a:ext>
            </a:extLst>
          </p:cNvPr>
          <p:cNvSpPr txBox="1">
            <a:spLocks noGrp="1"/>
          </p:cNvSpPr>
          <p:nvPr>
            <p:ph type="sldNum" sz="quarter" idx="2"/>
          </p:nvPr>
        </p:nvSpPr>
        <p:spPr>
          <a:xfrm>
            <a:off x="12369933" y="9101351"/>
            <a:ext cx="238973" cy="3462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pic>
        <p:nvPicPr>
          <p:cNvPr id="3" name="Picture 2">
            <a:extLst>
              <a:ext uri="{FF2B5EF4-FFF2-40B4-BE49-F238E27FC236}">
                <a16:creationId xmlns:a16="http://schemas.microsoft.com/office/drawing/2014/main" id="{BC742D1E-E840-5939-69B9-CF43E14F859C}"/>
              </a:ext>
            </a:extLst>
          </p:cNvPr>
          <p:cNvPicPr>
            <a:picLocks noChangeAspect="1"/>
          </p:cNvPicPr>
          <p:nvPr/>
        </p:nvPicPr>
        <p:blipFill>
          <a:blip r:embed="rId2"/>
          <a:stretch>
            <a:fillRect/>
          </a:stretch>
        </p:blipFill>
        <p:spPr>
          <a:xfrm>
            <a:off x="10111408" y="1"/>
            <a:ext cx="2893391" cy="774661"/>
          </a:xfrm>
          <a:prstGeom prst="rect">
            <a:avLst/>
          </a:prstGeom>
        </p:spPr>
      </p:pic>
      <p:graphicFrame>
        <p:nvGraphicFramePr>
          <p:cNvPr id="6" name="Table 5">
            <a:extLst>
              <a:ext uri="{FF2B5EF4-FFF2-40B4-BE49-F238E27FC236}">
                <a16:creationId xmlns:a16="http://schemas.microsoft.com/office/drawing/2014/main" id="{92378659-976D-A390-6168-25B79CEF7EE2}"/>
              </a:ext>
            </a:extLst>
          </p:cNvPr>
          <p:cNvGraphicFramePr>
            <a:graphicFrameLocks noGrp="1"/>
          </p:cNvGraphicFramePr>
          <p:nvPr>
            <p:extLst>
              <p:ext uri="{D42A27DB-BD31-4B8C-83A1-F6EECF244321}">
                <p14:modId xmlns:p14="http://schemas.microsoft.com/office/powerpoint/2010/main" val="1355249671"/>
              </p:ext>
            </p:extLst>
          </p:nvPr>
        </p:nvGraphicFramePr>
        <p:xfrm>
          <a:off x="291546" y="1693828"/>
          <a:ext cx="12317360" cy="7580662"/>
        </p:xfrm>
        <a:graphic>
          <a:graphicData uri="http://schemas.openxmlformats.org/drawingml/2006/table">
            <a:tbl>
              <a:tblPr firstRow="1" firstCol="1" bandRow="1">
                <a:tableStyleId>{5940675A-B579-460E-94D1-54222C63F5DA}</a:tableStyleId>
              </a:tblPr>
              <a:tblGrid>
                <a:gridCol w="755374">
                  <a:extLst>
                    <a:ext uri="{9D8B030D-6E8A-4147-A177-3AD203B41FA5}">
                      <a16:colId xmlns:a16="http://schemas.microsoft.com/office/drawing/2014/main" val="827141061"/>
                    </a:ext>
                  </a:extLst>
                </a:gridCol>
                <a:gridCol w="1033669">
                  <a:extLst>
                    <a:ext uri="{9D8B030D-6E8A-4147-A177-3AD203B41FA5}">
                      <a16:colId xmlns:a16="http://schemas.microsoft.com/office/drawing/2014/main" val="2422348973"/>
                    </a:ext>
                  </a:extLst>
                </a:gridCol>
                <a:gridCol w="1404731">
                  <a:extLst>
                    <a:ext uri="{9D8B030D-6E8A-4147-A177-3AD203B41FA5}">
                      <a16:colId xmlns:a16="http://schemas.microsoft.com/office/drawing/2014/main" val="1161857969"/>
                    </a:ext>
                  </a:extLst>
                </a:gridCol>
                <a:gridCol w="1378226">
                  <a:extLst>
                    <a:ext uri="{9D8B030D-6E8A-4147-A177-3AD203B41FA5}">
                      <a16:colId xmlns:a16="http://schemas.microsoft.com/office/drawing/2014/main" val="3542065701"/>
                    </a:ext>
                  </a:extLst>
                </a:gridCol>
                <a:gridCol w="1391478">
                  <a:extLst>
                    <a:ext uri="{9D8B030D-6E8A-4147-A177-3AD203B41FA5}">
                      <a16:colId xmlns:a16="http://schemas.microsoft.com/office/drawing/2014/main" val="3431785839"/>
                    </a:ext>
                  </a:extLst>
                </a:gridCol>
                <a:gridCol w="1426938">
                  <a:extLst>
                    <a:ext uri="{9D8B030D-6E8A-4147-A177-3AD203B41FA5}">
                      <a16:colId xmlns:a16="http://schemas.microsoft.com/office/drawing/2014/main" val="3596009469"/>
                    </a:ext>
                  </a:extLst>
                </a:gridCol>
                <a:gridCol w="1422279">
                  <a:extLst>
                    <a:ext uri="{9D8B030D-6E8A-4147-A177-3AD203B41FA5}">
                      <a16:colId xmlns:a16="http://schemas.microsoft.com/office/drawing/2014/main" val="3736649683"/>
                    </a:ext>
                  </a:extLst>
                </a:gridCol>
                <a:gridCol w="1041193">
                  <a:extLst>
                    <a:ext uri="{9D8B030D-6E8A-4147-A177-3AD203B41FA5}">
                      <a16:colId xmlns:a16="http://schemas.microsoft.com/office/drawing/2014/main" val="954896596"/>
                    </a:ext>
                  </a:extLst>
                </a:gridCol>
                <a:gridCol w="906877">
                  <a:extLst>
                    <a:ext uri="{9D8B030D-6E8A-4147-A177-3AD203B41FA5}">
                      <a16:colId xmlns:a16="http://schemas.microsoft.com/office/drawing/2014/main" val="580709630"/>
                    </a:ext>
                  </a:extLst>
                </a:gridCol>
                <a:gridCol w="1556595">
                  <a:extLst>
                    <a:ext uri="{9D8B030D-6E8A-4147-A177-3AD203B41FA5}">
                      <a16:colId xmlns:a16="http://schemas.microsoft.com/office/drawing/2014/main" val="3845157534"/>
                    </a:ext>
                  </a:extLst>
                </a:gridCol>
              </a:tblGrid>
              <a:tr h="478620">
                <a:tc>
                  <a:txBody>
                    <a:bodyPr/>
                    <a:lstStyle/>
                    <a:p>
                      <a:pPr algn="ctr">
                        <a:lnSpc>
                          <a:spcPct val="150000"/>
                        </a:lnSpc>
                        <a:spcAft>
                          <a:spcPts val="1000"/>
                        </a:spcAft>
                        <a:buNone/>
                      </a:pPr>
                      <a:r>
                        <a:rPr lang="en-US" sz="2000" b="1" dirty="0">
                          <a:effectLst/>
                        </a:rPr>
                        <a:t>Rank</a:t>
                      </a:r>
                      <a:endParaRPr lang="en-IN" sz="2000" b="1" dirty="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ctr">
                        <a:lnSpc>
                          <a:spcPct val="150000"/>
                        </a:lnSpc>
                        <a:spcAft>
                          <a:spcPts val="1000"/>
                        </a:spcAft>
                        <a:buNone/>
                      </a:pPr>
                      <a:r>
                        <a:rPr lang="en-US" sz="2000" b="1">
                          <a:effectLst/>
                        </a:rPr>
                        <a:t>Image</a:t>
                      </a:r>
                      <a:endParaRPr lang="en-IN" sz="2000" b="1">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ctr">
                        <a:lnSpc>
                          <a:spcPct val="150000"/>
                        </a:lnSpc>
                        <a:spcAft>
                          <a:spcPts val="1000"/>
                        </a:spcAft>
                        <a:buNone/>
                      </a:pPr>
                      <a:r>
                        <a:rPr lang="en-US" sz="2000" b="1">
                          <a:effectLst/>
                        </a:rPr>
                        <a:t>Resolution</a:t>
                      </a:r>
                      <a:endParaRPr lang="en-IN" sz="2000" b="1">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ctr">
                        <a:lnSpc>
                          <a:spcPct val="150000"/>
                        </a:lnSpc>
                        <a:spcAft>
                          <a:spcPts val="1000"/>
                        </a:spcAft>
                        <a:buNone/>
                      </a:pPr>
                      <a:r>
                        <a:rPr lang="en-US" sz="2000" b="1">
                          <a:effectLst/>
                        </a:rPr>
                        <a:t>Pixels</a:t>
                      </a:r>
                      <a:endParaRPr lang="en-IN" sz="2000" b="1">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ctr">
                        <a:lnSpc>
                          <a:spcPct val="150000"/>
                        </a:lnSpc>
                        <a:spcAft>
                          <a:spcPts val="1000"/>
                        </a:spcAft>
                        <a:buNone/>
                      </a:pPr>
                      <a:r>
                        <a:rPr lang="en-US" sz="2000" b="1">
                          <a:effectLst/>
                        </a:rPr>
                        <a:t>Original</a:t>
                      </a:r>
                      <a:br>
                        <a:rPr lang="en-US" sz="2000" b="1">
                          <a:effectLst/>
                        </a:rPr>
                      </a:br>
                      <a:r>
                        <a:rPr lang="en-US" sz="2000" b="1">
                          <a:effectLst/>
                        </a:rPr>
                        <a:t>Bits</a:t>
                      </a:r>
                      <a:endParaRPr lang="en-IN" sz="2000" b="1">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ctr">
                        <a:lnSpc>
                          <a:spcPct val="150000"/>
                        </a:lnSpc>
                        <a:spcAft>
                          <a:spcPts val="1000"/>
                        </a:spcAft>
                        <a:buNone/>
                      </a:pPr>
                      <a:r>
                        <a:rPr lang="en-US" sz="2000" b="1">
                          <a:effectLst/>
                        </a:rPr>
                        <a:t>Compressed</a:t>
                      </a:r>
                      <a:br>
                        <a:rPr lang="en-US" sz="2000" b="1">
                          <a:effectLst/>
                        </a:rPr>
                      </a:br>
                      <a:r>
                        <a:rPr lang="en-US" sz="2000" b="1">
                          <a:effectLst/>
                        </a:rPr>
                        <a:t>Bits</a:t>
                      </a:r>
                      <a:endParaRPr lang="en-IN" sz="2000" b="1">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ctr">
                        <a:lnSpc>
                          <a:spcPct val="150000"/>
                        </a:lnSpc>
                        <a:spcAft>
                          <a:spcPts val="1000"/>
                        </a:spcAft>
                        <a:buNone/>
                      </a:pPr>
                      <a:r>
                        <a:rPr lang="en-US" sz="2000" b="1">
                          <a:effectLst/>
                        </a:rPr>
                        <a:t>Compressed</a:t>
                      </a:r>
                      <a:br>
                        <a:rPr lang="en-US" sz="2000" b="1">
                          <a:effectLst/>
                        </a:rPr>
                      </a:br>
                      <a:r>
                        <a:rPr lang="en-US" sz="2000" b="1">
                          <a:effectLst/>
                        </a:rPr>
                        <a:t>Bytes</a:t>
                      </a:r>
                      <a:endParaRPr lang="en-IN" sz="2000" b="1">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ctr">
                        <a:lnSpc>
                          <a:spcPct val="150000"/>
                        </a:lnSpc>
                        <a:spcAft>
                          <a:spcPts val="1000"/>
                        </a:spcAft>
                        <a:buNone/>
                      </a:pPr>
                      <a:r>
                        <a:rPr lang="en-US" sz="2000" b="1">
                          <a:effectLst/>
                        </a:rPr>
                        <a:t>CR</a:t>
                      </a:r>
                      <a:endParaRPr lang="en-IN" sz="2000" b="1">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ctr">
                        <a:lnSpc>
                          <a:spcPct val="150000"/>
                        </a:lnSpc>
                        <a:spcAft>
                          <a:spcPts val="1000"/>
                        </a:spcAft>
                        <a:buNone/>
                      </a:pPr>
                      <a:r>
                        <a:rPr lang="en-US" sz="2000" b="1">
                          <a:effectLst/>
                        </a:rPr>
                        <a:t>BPP</a:t>
                      </a:r>
                      <a:endParaRPr lang="en-IN" sz="2000" b="1">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ctr">
                        <a:lnSpc>
                          <a:spcPct val="150000"/>
                        </a:lnSpc>
                        <a:spcAft>
                          <a:spcPts val="1000"/>
                        </a:spcAft>
                        <a:buNone/>
                      </a:pPr>
                      <a:r>
                        <a:rPr lang="en-US" sz="2000" b="1" dirty="0">
                          <a:effectLst/>
                        </a:rPr>
                        <a:t>Time (ns)</a:t>
                      </a:r>
                      <a:endParaRPr lang="en-IN" sz="2000" b="1" dirty="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2446347055"/>
                  </a:ext>
                </a:extLst>
              </a:tr>
              <a:tr h="560115">
                <a:tc>
                  <a:txBody>
                    <a:bodyPr/>
                    <a:lstStyle/>
                    <a:p>
                      <a:pPr algn="l">
                        <a:lnSpc>
                          <a:spcPct val="150000"/>
                        </a:lnSpc>
                        <a:spcAft>
                          <a:spcPts val="1000"/>
                        </a:spcAft>
                        <a:buNone/>
                      </a:pPr>
                      <a:r>
                        <a:rPr lang="en-US" sz="2000" dirty="0">
                          <a:effectLst/>
                        </a:rPr>
                        <a:t>1</a:t>
                      </a:r>
                      <a:endParaRPr lang="en-IN" sz="2000" dirty="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dirty="0">
                          <a:effectLst/>
                        </a:rPr>
                        <a:t>img25</a:t>
                      </a:r>
                      <a:endParaRPr lang="en-IN" sz="2000" dirty="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512×512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2,62,144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20,97,152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5,24,596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65,575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3.9977</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2.001</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18,353,815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626498215"/>
                  </a:ext>
                </a:extLst>
              </a:tr>
              <a:tr h="560115">
                <a:tc>
                  <a:txBody>
                    <a:bodyPr/>
                    <a:lstStyle/>
                    <a:p>
                      <a:pPr algn="l">
                        <a:lnSpc>
                          <a:spcPct val="150000"/>
                        </a:lnSpc>
                        <a:spcAft>
                          <a:spcPts val="1000"/>
                        </a:spcAft>
                        <a:buNone/>
                      </a:pPr>
                      <a:r>
                        <a:rPr lang="en-US" sz="2000">
                          <a:effectLst/>
                        </a:rPr>
                        <a:t>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img2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3072×4080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1,25,33,760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10,02,70,080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3,15,36,838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39,42,105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3.1795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2.516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9,42,056,545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2945179644"/>
                  </a:ext>
                </a:extLst>
              </a:tr>
              <a:tr h="560115">
                <a:tc>
                  <a:txBody>
                    <a:bodyPr/>
                    <a:lstStyle/>
                    <a:p>
                      <a:pPr algn="l">
                        <a:lnSpc>
                          <a:spcPct val="150000"/>
                        </a:lnSpc>
                        <a:spcAft>
                          <a:spcPts val="1000"/>
                        </a:spcAft>
                        <a:buNone/>
                      </a:pPr>
                      <a:r>
                        <a:rPr lang="en-US" sz="2000">
                          <a:effectLst/>
                        </a:rPr>
                        <a:t>3</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img20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512×512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2,62,144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20,97,152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7,56,664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94,583</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2.7716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2.886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2,06,74,435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1593511269"/>
                  </a:ext>
                </a:extLst>
              </a:tr>
              <a:tr h="560115">
                <a:tc>
                  <a:txBody>
                    <a:bodyPr/>
                    <a:lstStyle/>
                    <a:p>
                      <a:pPr algn="l">
                        <a:lnSpc>
                          <a:spcPct val="150000"/>
                        </a:lnSpc>
                        <a:spcAft>
                          <a:spcPts val="1000"/>
                        </a:spcAft>
                        <a:buNone/>
                      </a:pPr>
                      <a:r>
                        <a:rPr lang="en-US" sz="2000">
                          <a:effectLst/>
                        </a:rPr>
                        <a:t>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img5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256×256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65,536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5,24,288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2,20,531</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27,567</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2.3774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3.365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54,82,775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3371960846"/>
                  </a:ext>
                </a:extLst>
              </a:tr>
              <a:tr h="560115">
                <a:tc>
                  <a:txBody>
                    <a:bodyPr/>
                    <a:lstStyle/>
                    <a:p>
                      <a:pPr algn="l">
                        <a:lnSpc>
                          <a:spcPct val="150000"/>
                        </a:lnSpc>
                        <a:spcAft>
                          <a:spcPts val="1000"/>
                        </a:spcAft>
                        <a:buNone/>
                      </a:pPr>
                      <a:r>
                        <a:rPr lang="en-US" sz="2000">
                          <a:effectLst/>
                        </a:rPr>
                        <a:t>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img1</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3072×4080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1,25,33,760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10,02,70,080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4,79,42,123</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59,92,765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2.0915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3.825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1,10,61,09,355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3981985499"/>
                  </a:ext>
                </a:extLst>
              </a:tr>
              <a:tr h="560115">
                <a:tc>
                  <a:txBody>
                    <a:bodyPr/>
                    <a:lstStyle/>
                    <a:p>
                      <a:pPr algn="l">
                        <a:lnSpc>
                          <a:spcPct val="150000"/>
                        </a:lnSpc>
                        <a:spcAft>
                          <a:spcPts val="1000"/>
                        </a:spcAft>
                        <a:buNone/>
                      </a:pPr>
                      <a:r>
                        <a:rPr lang="en-US" sz="2000">
                          <a:effectLst/>
                        </a:rPr>
                        <a:t>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img3</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256×256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65,536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5,24,288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3,40,209</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42,526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1.5411</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5.191</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66,79,475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1152803239"/>
                  </a:ext>
                </a:extLst>
              </a:tr>
              <a:tr h="560115">
                <a:tc>
                  <a:txBody>
                    <a:bodyPr/>
                    <a:lstStyle/>
                    <a:p>
                      <a:pPr algn="l">
                        <a:lnSpc>
                          <a:spcPct val="150000"/>
                        </a:lnSpc>
                        <a:spcAft>
                          <a:spcPts val="1000"/>
                        </a:spcAft>
                        <a:buNone/>
                      </a:pPr>
                      <a:r>
                        <a:rPr lang="en-US" sz="2000">
                          <a:effectLst/>
                        </a:rPr>
                        <a:t>7</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img4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256×256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65,536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5,24,288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dirty="0">
                          <a:effectLst/>
                        </a:rPr>
                        <a:t>3,51,984</a:t>
                      </a:r>
                      <a:endParaRPr lang="en-IN" sz="2000" dirty="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43,998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1.4895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5.371</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67,97,215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3861157695"/>
                  </a:ext>
                </a:extLst>
              </a:tr>
              <a:tr h="560115">
                <a:tc>
                  <a:txBody>
                    <a:bodyPr/>
                    <a:lstStyle/>
                    <a:p>
                      <a:pPr algn="l">
                        <a:lnSpc>
                          <a:spcPct val="150000"/>
                        </a:lnSpc>
                        <a:spcAft>
                          <a:spcPts val="1000"/>
                        </a:spcAft>
                        <a:buNone/>
                      </a:pPr>
                      <a:r>
                        <a:rPr lang="en-US" sz="2000">
                          <a:effectLst/>
                        </a:rPr>
                        <a:t>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img13</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512×512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2,62,144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20,97,152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14,78,912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1,84,864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1.418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5.642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2,78,96,925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1465206831"/>
                  </a:ext>
                </a:extLst>
              </a:tr>
              <a:tr h="560115">
                <a:tc>
                  <a:txBody>
                    <a:bodyPr/>
                    <a:lstStyle/>
                    <a:p>
                      <a:pPr algn="l">
                        <a:lnSpc>
                          <a:spcPct val="150000"/>
                        </a:lnSpc>
                        <a:spcAft>
                          <a:spcPts val="1000"/>
                        </a:spcAft>
                        <a:buNone/>
                      </a:pPr>
                      <a:r>
                        <a:rPr lang="en-US" sz="2000">
                          <a:effectLst/>
                        </a:rPr>
                        <a:t>9</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img8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512×512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2,62,144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20,97,152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17,61,688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2,20,211</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dirty="0">
                          <a:effectLst/>
                        </a:rPr>
                        <a:t>1.1904</a:t>
                      </a:r>
                      <a:endParaRPr lang="en-IN" sz="2000" dirty="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6.72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3,07,24,705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818131995"/>
                  </a:ext>
                </a:extLst>
              </a:tr>
              <a:tr h="560115">
                <a:tc>
                  <a:txBody>
                    <a:bodyPr/>
                    <a:lstStyle/>
                    <a:p>
                      <a:pPr algn="l">
                        <a:lnSpc>
                          <a:spcPct val="150000"/>
                        </a:lnSpc>
                        <a:spcAft>
                          <a:spcPts val="1000"/>
                        </a:spcAft>
                        <a:buNone/>
                      </a:pPr>
                      <a:r>
                        <a:rPr lang="en-US" sz="2000">
                          <a:effectLst/>
                        </a:rPr>
                        <a:t>10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img7</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512×512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2,62,144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20,97,152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17,83,024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2,22,878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1.1762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dirty="0">
                          <a:effectLst/>
                        </a:rPr>
                        <a:t>6.802</a:t>
                      </a:r>
                      <a:endParaRPr lang="en-IN" sz="2000" dirty="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dirty="0">
                          <a:effectLst/>
                        </a:rPr>
                        <a:t>3,09,38,015</a:t>
                      </a:r>
                      <a:endParaRPr lang="en-IN" sz="2000" dirty="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3110814488"/>
                  </a:ext>
                </a:extLst>
              </a:tr>
              <a:tr h="560115">
                <a:tc>
                  <a:txBody>
                    <a:bodyPr/>
                    <a:lstStyle/>
                    <a:p>
                      <a:pPr algn="l">
                        <a:lnSpc>
                          <a:spcPct val="150000"/>
                        </a:lnSpc>
                        <a:spcAft>
                          <a:spcPts val="1000"/>
                        </a:spcAft>
                        <a:buNone/>
                      </a:pPr>
                      <a:r>
                        <a:rPr lang="en-US" sz="2000">
                          <a:effectLst/>
                        </a:rPr>
                        <a:t>11</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img16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512×512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2,62,144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20,97,152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18,31,744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2,28,968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1.1449</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6.988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dirty="0">
                          <a:effectLst/>
                        </a:rPr>
                        <a:t>3,14,25,245</a:t>
                      </a:r>
                      <a:endParaRPr lang="en-IN" sz="2000" dirty="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2547469289"/>
                  </a:ext>
                </a:extLst>
              </a:tr>
              <a:tr h="560115">
                <a:tc>
                  <a:txBody>
                    <a:bodyPr/>
                    <a:lstStyle/>
                    <a:p>
                      <a:pPr algn="l">
                        <a:lnSpc>
                          <a:spcPct val="150000"/>
                        </a:lnSpc>
                        <a:spcAft>
                          <a:spcPts val="1000"/>
                        </a:spcAft>
                        <a:buNone/>
                      </a:pPr>
                      <a:r>
                        <a:rPr lang="en-US" sz="2000">
                          <a:effectLst/>
                        </a:rPr>
                        <a:t>12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img12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512×512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2,62,144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20,97,152</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18,34,344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2,29,293</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1.1433</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a:effectLst/>
                        </a:rPr>
                        <a:t>6.998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tc>
                  <a:txBody>
                    <a:bodyPr/>
                    <a:lstStyle/>
                    <a:p>
                      <a:pPr algn="l">
                        <a:lnSpc>
                          <a:spcPct val="150000"/>
                        </a:lnSpc>
                        <a:spcAft>
                          <a:spcPts val="1000"/>
                        </a:spcAft>
                        <a:buNone/>
                      </a:pPr>
                      <a:r>
                        <a:rPr lang="en-US" sz="2000" dirty="0">
                          <a:effectLst/>
                        </a:rPr>
                        <a:t>3,14,51,245</a:t>
                      </a:r>
                      <a:endParaRPr lang="en-IN" sz="2000" dirty="0">
                        <a:effectLst/>
                        <a:latin typeface="Cambria" panose="02040503050406030204" pitchFamily="18" charset="0"/>
                        <a:ea typeface="MS Mincho" panose="02020609040205080304" pitchFamily="49" charset="-128"/>
                        <a:cs typeface="Cambria" panose="02040503050406030204" pitchFamily="18" charset="0"/>
                      </a:endParaRPr>
                    </a:p>
                  </a:txBody>
                  <a:tcPr marL="13795" marR="13795" marT="0" marB="0"/>
                </a:tc>
                <a:extLst>
                  <a:ext uri="{0D108BD9-81ED-4DB2-BD59-A6C34878D82A}">
                    <a16:rowId xmlns:a16="http://schemas.microsoft.com/office/drawing/2014/main" val="273290276"/>
                  </a:ext>
                </a:extLst>
              </a:tr>
            </a:tbl>
          </a:graphicData>
        </a:graphic>
      </p:graphicFrame>
      <p:sp>
        <p:nvSpPr>
          <p:cNvPr id="8" name="Title 1">
            <a:extLst>
              <a:ext uri="{FF2B5EF4-FFF2-40B4-BE49-F238E27FC236}">
                <a16:creationId xmlns:a16="http://schemas.microsoft.com/office/drawing/2014/main" id="{B012848D-45B6-61CE-5271-B19EB1C77A4D}"/>
              </a:ext>
            </a:extLst>
          </p:cNvPr>
          <p:cNvSpPr txBox="1">
            <a:spLocks/>
          </p:cNvSpPr>
          <p:nvPr/>
        </p:nvSpPr>
        <p:spPr>
          <a:xfrm>
            <a:off x="0" y="1117372"/>
            <a:ext cx="3430107" cy="50721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0000" lnSpcReduction="100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3200" dirty="0"/>
              <a:t>For 12 test images:</a:t>
            </a:r>
          </a:p>
        </p:txBody>
      </p:sp>
    </p:spTree>
    <p:extLst>
      <p:ext uri="{BB962C8B-B14F-4D97-AF65-F5344CB8AC3E}">
        <p14:creationId xmlns:p14="http://schemas.microsoft.com/office/powerpoint/2010/main" val="2474136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62A3E-E8C1-C5E7-4199-59BD4B6079D5}"/>
            </a:ext>
          </a:extLst>
        </p:cNvPr>
        <p:cNvGrpSpPr/>
        <p:nvPr/>
      </p:nvGrpSpPr>
      <p:grpSpPr>
        <a:xfrm>
          <a:off x="0" y="0"/>
          <a:ext cx="0" cy="0"/>
          <a:chOff x="0" y="0"/>
          <a:chExt cx="0" cy="0"/>
        </a:xfrm>
      </p:grpSpPr>
      <p:sp>
        <p:nvSpPr>
          <p:cNvPr id="128" name="Title 1">
            <a:extLst>
              <a:ext uri="{FF2B5EF4-FFF2-40B4-BE49-F238E27FC236}">
                <a16:creationId xmlns:a16="http://schemas.microsoft.com/office/drawing/2014/main" id="{28F098FE-50F4-923B-7A97-C51E753D4827}"/>
              </a:ext>
            </a:extLst>
          </p:cNvPr>
          <p:cNvSpPr txBox="1">
            <a:spLocks noGrp="1"/>
          </p:cNvSpPr>
          <p:nvPr>
            <p:ph type="title"/>
          </p:nvPr>
        </p:nvSpPr>
        <p:spPr>
          <a:xfrm>
            <a:off x="1625598" y="133726"/>
            <a:ext cx="9753602" cy="914401"/>
          </a:xfrm>
          <a:prstGeom prst="rect">
            <a:avLst/>
          </a:prstGeom>
        </p:spPr>
        <p:txBody>
          <a:bodyPr>
            <a:normAutofit fontScale="90000"/>
          </a:bodyPr>
          <a:lstStyle>
            <a:lvl1pPr defTabSz="1456537">
              <a:defRPr sz="5880" b="1">
                <a:effectLst>
                  <a:outerShdw blurRad="32004" dist="32004" dir="2700000" rotWithShape="0">
                    <a:srgbClr val="000000">
                      <a:alpha val="43137"/>
                    </a:srgbClr>
                  </a:outerShdw>
                </a:effectLst>
                <a:latin typeface="+mn-lt"/>
                <a:ea typeface="+mn-ea"/>
                <a:cs typeface="+mn-cs"/>
                <a:sym typeface="Times New Roman"/>
              </a:defRPr>
            </a:lvl1pPr>
          </a:lstStyle>
          <a:p>
            <a:r>
              <a:rPr lang="en-US" dirty="0"/>
              <a:t>Testbench Results</a:t>
            </a:r>
            <a:endParaRPr dirty="0"/>
          </a:p>
        </p:txBody>
      </p:sp>
      <p:sp>
        <p:nvSpPr>
          <p:cNvPr id="130" name="Slide Number Placeholder 4">
            <a:extLst>
              <a:ext uri="{FF2B5EF4-FFF2-40B4-BE49-F238E27FC236}">
                <a16:creationId xmlns:a16="http://schemas.microsoft.com/office/drawing/2014/main" id="{CD1A6948-0562-1605-702D-DECCEC99A074}"/>
              </a:ext>
            </a:extLst>
          </p:cNvPr>
          <p:cNvSpPr txBox="1">
            <a:spLocks noGrp="1"/>
          </p:cNvSpPr>
          <p:nvPr>
            <p:ph type="sldNum" sz="quarter" idx="2"/>
          </p:nvPr>
        </p:nvSpPr>
        <p:spPr>
          <a:xfrm>
            <a:off x="12369933" y="9101351"/>
            <a:ext cx="238973" cy="3462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13</a:t>
            </a:fld>
            <a:endParaRPr/>
          </a:p>
        </p:txBody>
      </p:sp>
      <p:pic>
        <p:nvPicPr>
          <p:cNvPr id="3" name="Picture 2">
            <a:extLst>
              <a:ext uri="{FF2B5EF4-FFF2-40B4-BE49-F238E27FC236}">
                <a16:creationId xmlns:a16="http://schemas.microsoft.com/office/drawing/2014/main" id="{AC7157B0-33E4-AAC6-A545-BBA99F7CB232}"/>
              </a:ext>
            </a:extLst>
          </p:cNvPr>
          <p:cNvPicPr>
            <a:picLocks noChangeAspect="1"/>
          </p:cNvPicPr>
          <p:nvPr/>
        </p:nvPicPr>
        <p:blipFill>
          <a:blip r:embed="rId2"/>
          <a:stretch>
            <a:fillRect/>
          </a:stretch>
        </p:blipFill>
        <p:spPr>
          <a:xfrm>
            <a:off x="10111408" y="1"/>
            <a:ext cx="2893391" cy="774661"/>
          </a:xfrm>
          <a:prstGeom prst="rect">
            <a:avLst/>
          </a:prstGeom>
        </p:spPr>
      </p:pic>
      <p:sp>
        <p:nvSpPr>
          <p:cNvPr id="4" name="TextBox 3">
            <a:extLst>
              <a:ext uri="{FF2B5EF4-FFF2-40B4-BE49-F238E27FC236}">
                <a16:creationId xmlns:a16="http://schemas.microsoft.com/office/drawing/2014/main" id="{177EEB82-4B1A-12A9-A4C6-83E75FE660E6}"/>
              </a:ext>
            </a:extLst>
          </p:cNvPr>
          <p:cNvSpPr txBox="1"/>
          <p:nvPr/>
        </p:nvSpPr>
        <p:spPr>
          <a:xfrm>
            <a:off x="929640" y="1508760"/>
            <a:ext cx="98551" cy="59092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8767" tIns="48767" rIns="48767" bIns="48767" numCol="1" spcCol="38100" rtlCol="0" anchor="t">
            <a:spAutoFit/>
          </a:bodyPr>
          <a:lstStyle/>
          <a:p>
            <a:pPr marL="0" marR="0" indent="0" algn="l" defTabSz="1733973" rtl="0" fontAlgn="auto" latinLnBrk="0" hangingPunct="0">
              <a:lnSpc>
                <a:spcPct val="100000"/>
              </a:lnSpc>
              <a:spcBef>
                <a:spcPts val="0"/>
              </a:spcBef>
              <a:spcAft>
                <a:spcPts val="0"/>
              </a:spcAft>
              <a:buClrTx/>
              <a:buSzTx/>
              <a:buFontTx/>
              <a:buNone/>
              <a:tabLst/>
            </a:pPr>
            <a:endParaRPr kumimoji="0" lang="en-IN" sz="3200" b="0" i="0" u="none" strike="noStrike" cap="none" spc="0" normalizeH="0" baseline="0" dirty="0">
              <a:ln>
                <a:noFill/>
              </a:ln>
              <a:solidFill>
                <a:srgbClr val="000000"/>
              </a:solidFill>
              <a:effectLst/>
              <a:uFillTx/>
              <a:latin typeface="+mj-lt"/>
              <a:ea typeface="+mj-ea"/>
              <a:cs typeface="+mj-cs"/>
              <a:sym typeface="Calibri"/>
            </a:endParaRPr>
          </a:p>
        </p:txBody>
      </p:sp>
      <p:pic>
        <p:nvPicPr>
          <p:cNvPr id="2" name="Picture 1">
            <a:extLst>
              <a:ext uri="{FF2B5EF4-FFF2-40B4-BE49-F238E27FC236}">
                <a16:creationId xmlns:a16="http://schemas.microsoft.com/office/drawing/2014/main" id="{8636B0AB-626B-2C7E-27EE-2B9E567BE68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28191" y="1508760"/>
            <a:ext cx="3247870" cy="3247870"/>
          </a:xfrm>
          <a:prstGeom prst="rect">
            <a:avLst/>
          </a:prstGeom>
          <a:noFill/>
          <a:ln>
            <a:solidFill>
              <a:schemeClr val="tx1"/>
            </a:solidFill>
          </a:ln>
        </p:spPr>
      </p:pic>
      <p:pic>
        <p:nvPicPr>
          <p:cNvPr id="5" name="Picture 4">
            <a:extLst>
              <a:ext uri="{FF2B5EF4-FFF2-40B4-BE49-F238E27FC236}">
                <a16:creationId xmlns:a16="http://schemas.microsoft.com/office/drawing/2014/main" id="{EA040406-CFF6-6BD3-F062-4132D844AC7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00870" y="1508760"/>
            <a:ext cx="6759526" cy="3251707"/>
          </a:xfrm>
          <a:prstGeom prst="rect">
            <a:avLst/>
          </a:prstGeom>
          <a:noFill/>
          <a:ln>
            <a:solidFill>
              <a:schemeClr val="tx1"/>
            </a:solidFill>
          </a:ln>
        </p:spPr>
      </p:pic>
      <p:pic>
        <p:nvPicPr>
          <p:cNvPr id="7" name="Picture 6">
            <a:extLst>
              <a:ext uri="{FF2B5EF4-FFF2-40B4-BE49-F238E27FC236}">
                <a16:creationId xmlns:a16="http://schemas.microsoft.com/office/drawing/2014/main" id="{2DB65386-E52F-E8A5-7BEF-7D9898C9EE0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28191" y="5407435"/>
            <a:ext cx="3247870" cy="3693916"/>
          </a:xfrm>
          <a:prstGeom prst="rect">
            <a:avLst/>
          </a:prstGeom>
          <a:noFill/>
          <a:ln>
            <a:noFill/>
          </a:ln>
        </p:spPr>
      </p:pic>
      <p:pic>
        <p:nvPicPr>
          <p:cNvPr id="8" name="Picture 7">
            <a:extLst>
              <a:ext uri="{FF2B5EF4-FFF2-40B4-BE49-F238E27FC236}">
                <a16:creationId xmlns:a16="http://schemas.microsoft.com/office/drawing/2014/main" id="{4C8F02CA-89EE-4298-3EA0-3B93D3CFA2C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00870" y="5407434"/>
            <a:ext cx="6944794" cy="3251707"/>
          </a:xfrm>
          <a:prstGeom prst="rect">
            <a:avLst/>
          </a:prstGeom>
        </p:spPr>
      </p:pic>
      <p:sp>
        <p:nvSpPr>
          <p:cNvPr id="9" name="Title 1">
            <a:extLst>
              <a:ext uri="{FF2B5EF4-FFF2-40B4-BE49-F238E27FC236}">
                <a16:creationId xmlns:a16="http://schemas.microsoft.com/office/drawing/2014/main" id="{476C4C9C-610A-0AA7-D9CC-DA12A06B1397}"/>
              </a:ext>
            </a:extLst>
          </p:cNvPr>
          <p:cNvSpPr txBox="1">
            <a:spLocks/>
          </p:cNvSpPr>
          <p:nvPr/>
        </p:nvSpPr>
        <p:spPr>
          <a:xfrm>
            <a:off x="1341264" y="4756630"/>
            <a:ext cx="2621724" cy="52679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2400" dirty="0"/>
              <a:t>Img12 (Worst case)</a:t>
            </a:r>
          </a:p>
        </p:txBody>
      </p:sp>
      <p:sp>
        <p:nvSpPr>
          <p:cNvPr id="10" name="Title 1">
            <a:extLst>
              <a:ext uri="{FF2B5EF4-FFF2-40B4-BE49-F238E27FC236}">
                <a16:creationId xmlns:a16="http://schemas.microsoft.com/office/drawing/2014/main" id="{57650EE9-BBF1-E432-A97A-328E87EE52BE}"/>
              </a:ext>
            </a:extLst>
          </p:cNvPr>
          <p:cNvSpPr txBox="1">
            <a:spLocks/>
          </p:cNvSpPr>
          <p:nvPr/>
        </p:nvSpPr>
        <p:spPr>
          <a:xfrm>
            <a:off x="6752441" y="4778876"/>
            <a:ext cx="3856383" cy="53063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2400" dirty="0"/>
              <a:t>RTL Testbench (</a:t>
            </a:r>
            <a:r>
              <a:rPr lang="en-US" sz="2400" dirty="0" err="1"/>
              <a:t>Modelsim</a:t>
            </a:r>
            <a:r>
              <a:rPr lang="en-US" sz="2400" dirty="0"/>
              <a:t>)</a:t>
            </a:r>
          </a:p>
        </p:txBody>
      </p:sp>
      <p:sp>
        <p:nvSpPr>
          <p:cNvPr id="11" name="Title 1">
            <a:extLst>
              <a:ext uri="{FF2B5EF4-FFF2-40B4-BE49-F238E27FC236}">
                <a16:creationId xmlns:a16="http://schemas.microsoft.com/office/drawing/2014/main" id="{196F48BC-ABD7-2FBB-335A-BC21224594B7}"/>
              </a:ext>
            </a:extLst>
          </p:cNvPr>
          <p:cNvSpPr txBox="1">
            <a:spLocks/>
          </p:cNvSpPr>
          <p:nvPr/>
        </p:nvSpPr>
        <p:spPr>
          <a:xfrm>
            <a:off x="723934" y="9101351"/>
            <a:ext cx="3856383" cy="53063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2400" dirty="0"/>
              <a:t>Software Testbench (Python)</a:t>
            </a:r>
          </a:p>
        </p:txBody>
      </p:sp>
      <p:sp>
        <p:nvSpPr>
          <p:cNvPr id="12" name="Title 1">
            <a:extLst>
              <a:ext uri="{FF2B5EF4-FFF2-40B4-BE49-F238E27FC236}">
                <a16:creationId xmlns:a16="http://schemas.microsoft.com/office/drawing/2014/main" id="{10871B10-ED67-BFB8-E02A-41D5373DD145}"/>
              </a:ext>
            </a:extLst>
          </p:cNvPr>
          <p:cNvSpPr txBox="1">
            <a:spLocks/>
          </p:cNvSpPr>
          <p:nvPr/>
        </p:nvSpPr>
        <p:spPr>
          <a:xfrm>
            <a:off x="6845075" y="8696866"/>
            <a:ext cx="3856383" cy="53063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2400" dirty="0"/>
              <a:t>Compressed binary file (.bin)</a:t>
            </a:r>
          </a:p>
        </p:txBody>
      </p:sp>
    </p:spTree>
    <p:extLst>
      <p:ext uri="{BB962C8B-B14F-4D97-AF65-F5344CB8AC3E}">
        <p14:creationId xmlns:p14="http://schemas.microsoft.com/office/powerpoint/2010/main" val="265771998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042E3-307A-794A-AA82-60BB23D42DD1}"/>
            </a:ext>
          </a:extLst>
        </p:cNvPr>
        <p:cNvGrpSpPr/>
        <p:nvPr/>
      </p:nvGrpSpPr>
      <p:grpSpPr>
        <a:xfrm>
          <a:off x="0" y="0"/>
          <a:ext cx="0" cy="0"/>
          <a:chOff x="0" y="0"/>
          <a:chExt cx="0" cy="0"/>
        </a:xfrm>
      </p:grpSpPr>
      <p:sp>
        <p:nvSpPr>
          <p:cNvPr id="128" name="Title 1">
            <a:extLst>
              <a:ext uri="{FF2B5EF4-FFF2-40B4-BE49-F238E27FC236}">
                <a16:creationId xmlns:a16="http://schemas.microsoft.com/office/drawing/2014/main" id="{DAE62B3B-01FB-062D-29EC-4BF39FBCA133}"/>
              </a:ext>
            </a:extLst>
          </p:cNvPr>
          <p:cNvSpPr txBox="1">
            <a:spLocks noGrp="1"/>
          </p:cNvSpPr>
          <p:nvPr>
            <p:ph type="title"/>
          </p:nvPr>
        </p:nvSpPr>
        <p:spPr>
          <a:xfrm>
            <a:off x="1625598" y="133726"/>
            <a:ext cx="9753602" cy="914401"/>
          </a:xfrm>
          <a:prstGeom prst="rect">
            <a:avLst/>
          </a:prstGeom>
        </p:spPr>
        <p:txBody>
          <a:bodyPr>
            <a:normAutofit fontScale="90000"/>
          </a:bodyPr>
          <a:lstStyle>
            <a:lvl1pPr defTabSz="1456537">
              <a:defRPr sz="5880" b="1">
                <a:effectLst>
                  <a:outerShdw blurRad="32004" dist="32004" dir="2700000" rotWithShape="0">
                    <a:srgbClr val="000000">
                      <a:alpha val="43137"/>
                    </a:srgbClr>
                  </a:outerShdw>
                </a:effectLst>
                <a:latin typeface="+mn-lt"/>
                <a:ea typeface="+mn-ea"/>
                <a:cs typeface="+mn-cs"/>
                <a:sym typeface="Times New Roman"/>
              </a:defRPr>
            </a:lvl1pPr>
          </a:lstStyle>
          <a:p>
            <a:r>
              <a:rPr lang="en-US" dirty="0"/>
              <a:t>Testbench Results</a:t>
            </a:r>
            <a:endParaRPr dirty="0"/>
          </a:p>
        </p:txBody>
      </p:sp>
      <p:sp>
        <p:nvSpPr>
          <p:cNvPr id="130" name="Slide Number Placeholder 4">
            <a:extLst>
              <a:ext uri="{FF2B5EF4-FFF2-40B4-BE49-F238E27FC236}">
                <a16:creationId xmlns:a16="http://schemas.microsoft.com/office/drawing/2014/main" id="{624B2A49-5916-631C-E05B-078FDA317D47}"/>
              </a:ext>
            </a:extLst>
          </p:cNvPr>
          <p:cNvSpPr txBox="1">
            <a:spLocks noGrp="1"/>
          </p:cNvSpPr>
          <p:nvPr>
            <p:ph type="sldNum" sz="quarter" idx="2"/>
          </p:nvPr>
        </p:nvSpPr>
        <p:spPr>
          <a:xfrm>
            <a:off x="12369933" y="9101351"/>
            <a:ext cx="238973" cy="3462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14</a:t>
            </a:fld>
            <a:endParaRPr/>
          </a:p>
        </p:txBody>
      </p:sp>
      <p:pic>
        <p:nvPicPr>
          <p:cNvPr id="3" name="Picture 2">
            <a:extLst>
              <a:ext uri="{FF2B5EF4-FFF2-40B4-BE49-F238E27FC236}">
                <a16:creationId xmlns:a16="http://schemas.microsoft.com/office/drawing/2014/main" id="{26545896-B9DC-B8A8-0985-77FBD0840A2F}"/>
              </a:ext>
            </a:extLst>
          </p:cNvPr>
          <p:cNvPicPr>
            <a:picLocks noChangeAspect="1"/>
          </p:cNvPicPr>
          <p:nvPr/>
        </p:nvPicPr>
        <p:blipFill>
          <a:blip r:embed="rId2"/>
          <a:stretch>
            <a:fillRect/>
          </a:stretch>
        </p:blipFill>
        <p:spPr>
          <a:xfrm>
            <a:off x="10111408" y="1"/>
            <a:ext cx="2893391" cy="774661"/>
          </a:xfrm>
          <a:prstGeom prst="rect">
            <a:avLst/>
          </a:prstGeom>
        </p:spPr>
      </p:pic>
      <p:sp>
        <p:nvSpPr>
          <p:cNvPr id="4" name="TextBox 3">
            <a:extLst>
              <a:ext uri="{FF2B5EF4-FFF2-40B4-BE49-F238E27FC236}">
                <a16:creationId xmlns:a16="http://schemas.microsoft.com/office/drawing/2014/main" id="{CC5C0007-DAF3-B04F-2B7E-FBFD7A0D2B11}"/>
              </a:ext>
            </a:extLst>
          </p:cNvPr>
          <p:cNvSpPr txBox="1"/>
          <p:nvPr/>
        </p:nvSpPr>
        <p:spPr>
          <a:xfrm>
            <a:off x="929640" y="1508760"/>
            <a:ext cx="98551" cy="59092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8767" tIns="48767" rIns="48767" bIns="48767" numCol="1" spcCol="38100" rtlCol="0" anchor="t">
            <a:spAutoFit/>
          </a:bodyPr>
          <a:lstStyle/>
          <a:p>
            <a:pPr marL="0" marR="0" indent="0" algn="l" defTabSz="1733973" rtl="0" fontAlgn="auto" latinLnBrk="0" hangingPunct="0">
              <a:lnSpc>
                <a:spcPct val="100000"/>
              </a:lnSpc>
              <a:spcBef>
                <a:spcPts val="0"/>
              </a:spcBef>
              <a:spcAft>
                <a:spcPts val="0"/>
              </a:spcAft>
              <a:buClrTx/>
              <a:buSzTx/>
              <a:buFontTx/>
              <a:buNone/>
              <a:tabLst/>
            </a:pPr>
            <a:endParaRPr kumimoji="0" lang="en-IN" sz="3200" b="0" i="0" u="none" strike="noStrike" cap="none" spc="0" normalizeH="0" baseline="0" dirty="0">
              <a:ln>
                <a:noFill/>
              </a:ln>
              <a:solidFill>
                <a:srgbClr val="000000"/>
              </a:solidFill>
              <a:effectLst/>
              <a:uFillTx/>
              <a:latin typeface="+mj-lt"/>
              <a:ea typeface="+mj-ea"/>
              <a:cs typeface="+mj-cs"/>
              <a:sym typeface="Calibri"/>
            </a:endParaRPr>
          </a:p>
        </p:txBody>
      </p:sp>
      <p:pic>
        <p:nvPicPr>
          <p:cNvPr id="6" name="Picture 5">
            <a:extLst>
              <a:ext uri="{FF2B5EF4-FFF2-40B4-BE49-F238E27FC236}">
                <a16:creationId xmlns:a16="http://schemas.microsoft.com/office/drawing/2014/main" id="{D54382AB-B9FB-AAF7-66EA-ADAFA5DB8AE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28191" y="1508760"/>
            <a:ext cx="3247870" cy="3247870"/>
          </a:xfrm>
          <a:prstGeom prst="rect">
            <a:avLst/>
          </a:prstGeom>
          <a:noFill/>
          <a:ln>
            <a:solidFill>
              <a:schemeClr val="tx1"/>
            </a:solidFill>
          </a:ln>
        </p:spPr>
      </p:pic>
      <p:pic>
        <p:nvPicPr>
          <p:cNvPr id="9" name="Picture 8">
            <a:extLst>
              <a:ext uri="{FF2B5EF4-FFF2-40B4-BE49-F238E27FC236}">
                <a16:creationId xmlns:a16="http://schemas.microsoft.com/office/drawing/2014/main" id="{C43DFA13-F14A-F757-FF84-FE0A4BBFB48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00870" y="1508759"/>
            <a:ext cx="6934556" cy="3247869"/>
          </a:xfrm>
          <a:prstGeom prst="rect">
            <a:avLst/>
          </a:prstGeom>
          <a:noFill/>
          <a:ln>
            <a:solidFill>
              <a:schemeClr val="tx1"/>
            </a:solidFill>
          </a:ln>
        </p:spPr>
      </p:pic>
      <p:pic>
        <p:nvPicPr>
          <p:cNvPr id="10" name="Picture 9">
            <a:extLst>
              <a:ext uri="{FF2B5EF4-FFF2-40B4-BE49-F238E27FC236}">
                <a16:creationId xmlns:a16="http://schemas.microsoft.com/office/drawing/2014/main" id="{DEA22649-870C-C46E-E754-F699C829356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28191" y="5347557"/>
            <a:ext cx="3247870" cy="3521320"/>
          </a:xfrm>
          <a:prstGeom prst="rect">
            <a:avLst/>
          </a:prstGeom>
          <a:noFill/>
        </p:spPr>
      </p:pic>
      <p:pic>
        <p:nvPicPr>
          <p:cNvPr id="11" name="Picture 10">
            <a:extLst>
              <a:ext uri="{FF2B5EF4-FFF2-40B4-BE49-F238E27FC236}">
                <a16:creationId xmlns:a16="http://schemas.microsoft.com/office/drawing/2014/main" id="{ABF0D580-074B-C3DB-112F-3BE784E980A1}"/>
              </a:ext>
            </a:extLst>
          </p:cNvPr>
          <p:cNvPicPr>
            <a:picLocks noChangeAspect="1"/>
          </p:cNvPicPr>
          <p:nvPr/>
        </p:nvPicPr>
        <p:blipFill>
          <a:blip r:embed="rId6"/>
          <a:stretch>
            <a:fillRect/>
          </a:stretch>
        </p:blipFill>
        <p:spPr>
          <a:xfrm>
            <a:off x="5300870" y="5347557"/>
            <a:ext cx="6969676" cy="3247869"/>
          </a:xfrm>
          <a:prstGeom prst="rect">
            <a:avLst/>
          </a:prstGeom>
        </p:spPr>
      </p:pic>
      <p:sp>
        <p:nvSpPr>
          <p:cNvPr id="12" name="Title 1">
            <a:extLst>
              <a:ext uri="{FF2B5EF4-FFF2-40B4-BE49-F238E27FC236}">
                <a16:creationId xmlns:a16="http://schemas.microsoft.com/office/drawing/2014/main" id="{76059414-C8AC-185A-5769-27425823135B}"/>
              </a:ext>
            </a:extLst>
          </p:cNvPr>
          <p:cNvSpPr txBox="1">
            <a:spLocks/>
          </p:cNvSpPr>
          <p:nvPr/>
        </p:nvSpPr>
        <p:spPr>
          <a:xfrm>
            <a:off x="1341264" y="4756628"/>
            <a:ext cx="2621724" cy="52679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2400" dirty="0"/>
              <a:t>Img25 (Best case)</a:t>
            </a:r>
          </a:p>
        </p:txBody>
      </p:sp>
      <p:sp>
        <p:nvSpPr>
          <p:cNvPr id="13" name="Title 1">
            <a:extLst>
              <a:ext uri="{FF2B5EF4-FFF2-40B4-BE49-F238E27FC236}">
                <a16:creationId xmlns:a16="http://schemas.microsoft.com/office/drawing/2014/main" id="{8513C46B-5545-2FA7-7D20-FC7C456D589E}"/>
              </a:ext>
            </a:extLst>
          </p:cNvPr>
          <p:cNvSpPr txBox="1">
            <a:spLocks/>
          </p:cNvSpPr>
          <p:nvPr/>
        </p:nvSpPr>
        <p:spPr>
          <a:xfrm>
            <a:off x="723934" y="9009173"/>
            <a:ext cx="3856383" cy="53063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2400" dirty="0"/>
              <a:t>Software Testbench (Python)</a:t>
            </a:r>
          </a:p>
        </p:txBody>
      </p:sp>
      <p:sp>
        <p:nvSpPr>
          <p:cNvPr id="14" name="Title 1">
            <a:extLst>
              <a:ext uri="{FF2B5EF4-FFF2-40B4-BE49-F238E27FC236}">
                <a16:creationId xmlns:a16="http://schemas.microsoft.com/office/drawing/2014/main" id="{DC86FD2A-5493-C916-7ABC-A9C4DF77EB5A}"/>
              </a:ext>
            </a:extLst>
          </p:cNvPr>
          <p:cNvSpPr txBox="1">
            <a:spLocks/>
          </p:cNvSpPr>
          <p:nvPr/>
        </p:nvSpPr>
        <p:spPr>
          <a:xfrm>
            <a:off x="6839956" y="4772620"/>
            <a:ext cx="3856383" cy="53063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2400" dirty="0"/>
              <a:t>RTL Testbench (</a:t>
            </a:r>
            <a:r>
              <a:rPr lang="en-US" sz="2400" dirty="0" err="1"/>
              <a:t>Modelsim</a:t>
            </a:r>
            <a:r>
              <a:rPr lang="en-US" sz="2400" dirty="0"/>
              <a:t>)</a:t>
            </a:r>
          </a:p>
        </p:txBody>
      </p:sp>
      <p:sp>
        <p:nvSpPr>
          <p:cNvPr id="15" name="Title 1">
            <a:extLst>
              <a:ext uri="{FF2B5EF4-FFF2-40B4-BE49-F238E27FC236}">
                <a16:creationId xmlns:a16="http://schemas.microsoft.com/office/drawing/2014/main" id="{48E007B0-2E9A-6380-907D-CA55946E9295}"/>
              </a:ext>
            </a:extLst>
          </p:cNvPr>
          <p:cNvSpPr txBox="1">
            <a:spLocks/>
          </p:cNvSpPr>
          <p:nvPr/>
        </p:nvSpPr>
        <p:spPr>
          <a:xfrm>
            <a:off x="6857516" y="8655721"/>
            <a:ext cx="3856383" cy="53063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2400" dirty="0"/>
              <a:t>Compressed binary file (.bin)</a:t>
            </a:r>
          </a:p>
        </p:txBody>
      </p:sp>
    </p:spTree>
    <p:extLst>
      <p:ext uri="{BB962C8B-B14F-4D97-AF65-F5344CB8AC3E}">
        <p14:creationId xmlns:p14="http://schemas.microsoft.com/office/powerpoint/2010/main" val="136379745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67B56-4233-3E10-CE4E-FD762D2DDC1C}"/>
            </a:ext>
          </a:extLst>
        </p:cNvPr>
        <p:cNvGrpSpPr/>
        <p:nvPr/>
      </p:nvGrpSpPr>
      <p:grpSpPr>
        <a:xfrm>
          <a:off x="0" y="0"/>
          <a:ext cx="0" cy="0"/>
          <a:chOff x="0" y="0"/>
          <a:chExt cx="0" cy="0"/>
        </a:xfrm>
      </p:grpSpPr>
      <p:sp>
        <p:nvSpPr>
          <p:cNvPr id="138" name="Slide Number Placeholder 4">
            <a:extLst>
              <a:ext uri="{FF2B5EF4-FFF2-40B4-BE49-F238E27FC236}">
                <a16:creationId xmlns:a16="http://schemas.microsoft.com/office/drawing/2014/main" id="{5B21B1F7-98E9-56DF-DA71-F84987B69758}"/>
              </a:ext>
            </a:extLst>
          </p:cNvPr>
          <p:cNvSpPr txBox="1">
            <a:spLocks noGrp="1"/>
          </p:cNvSpPr>
          <p:nvPr>
            <p:ph type="sldNum" sz="quarter" idx="2"/>
          </p:nvPr>
        </p:nvSpPr>
        <p:spPr>
          <a:xfrm>
            <a:off x="12383772" y="9059834"/>
            <a:ext cx="238974" cy="34627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15</a:t>
            </a:fld>
            <a:endParaRPr/>
          </a:p>
        </p:txBody>
      </p:sp>
      <p:sp>
        <p:nvSpPr>
          <p:cNvPr id="139" name="Title 1">
            <a:extLst>
              <a:ext uri="{FF2B5EF4-FFF2-40B4-BE49-F238E27FC236}">
                <a16:creationId xmlns:a16="http://schemas.microsoft.com/office/drawing/2014/main" id="{1F0AA4BD-90BF-A248-F0A4-CCF60A780431}"/>
              </a:ext>
            </a:extLst>
          </p:cNvPr>
          <p:cNvSpPr txBox="1">
            <a:spLocks noGrp="1"/>
          </p:cNvSpPr>
          <p:nvPr>
            <p:ph type="title"/>
          </p:nvPr>
        </p:nvSpPr>
        <p:spPr>
          <a:xfrm>
            <a:off x="1625598" y="622261"/>
            <a:ext cx="9753602" cy="914401"/>
          </a:xfrm>
          <a:prstGeom prst="rect">
            <a:avLst/>
          </a:prstGeom>
        </p:spPr>
        <p:txBody>
          <a:bodyPr>
            <a:normAutofit fontScale="90000"/>
          </a:bodyPr>
          <a:lstStyle>
            <a:lvl1pPr>
              <a:defRPr sz="5800" b="1">
                <a:effectLst>
                  <a:outerShdw blurRad="38100" dist="38100" dir="2700000" rotWithShape="0">
                    <a:srgbClr val="000000">
                      <a:alpha val="43137"/>
                    </a:srgbClr>
                  </a:outerShdw>
                </a:effectLst>
                <a:latin typeface="+mn-lt"/>
                <a:ea typeface="+mn-ea"/>
                <a:cs typeface="+mn-cs"/>
                <a:sym typeface="Times New Roman"/>
              </a:defRPr>
            </a:lvl1pPr>
          </a:lstStyle>
          <a:p>
            <a:r>
              <a:rPr lang="en-US" dirty="0"/>
              <a:t>PYNQ Setup and GUI</a:t>
            </a:r>
            <a:endParaRPr dirty="0"/>
          </a:p>
        </p:txBody>
      </p:sp>
      <p:pic>
        <p:nvPicPr>
          <p:cNvPr id="2" name="Picture 1">
            <a:extLst>
              <a:ext uri="{FF2B5EF4-FFF2-40B4-BE49-F238E27FC236}">
                <a16:creationId xmlns:a16="http://schemas.microsoft.com/office/drawing/2014/main" id="{68120AB3-C9F6-9C32-7F68-79467D6A5A0B}"/>
              </a:ext>
            </a:extLst>
          </p:cNvPr>
          <p:cNvPicPr>
            <a:picLocks noChangeAspect="1"/>
          </p:cNvPicPr>
          <p:nvPr/>
        </p:nvPicPr>
        <p:blipFill>
          <a:blip r:embed="rId2"/>
          <a:stretch>
            <a:fillRect/>
          </a:stretch>
        </p:blipFill>
        <p:spPr>
          <a:xfrm>
            <a:off x="10111408" y="1"/>
            <a:ext cx="2893391" cy="774661"/>
          </a:xfrm>
          <a:prstGeom prst="rect">
            <a:avLst/>
          </a:prstGeom>
        </p:spPr>
      </p:pic>
      <p:pic>
        <p:nvPicPr>
          <p:cNvPr id="4" name="Picture 3">
            <a:extLst>
              <a:ext uri="{FF2B5EF4-FFF2-40B4-BE49-F238E27FC236}">
                <a16:creationId xmlns:a16="http://schemas.microsoft.com/office/drawing/2014/main" id="{3DF94FA2-6B9A-0E0F-8385-47698BA7332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8746" y="1759811"/>
            <a:ext cx="4227306" cy="5636408"/>
          </a:xfrm>
          <a:prstGeom prst="rect">
            <a:avLst/>
          </a:prstGeom>
          <a:noFill/>
          <a:ln>
            <a:noFill/>
          </a:ln>
        </p:spPr>
      </p:pic>
      <p:pic>
        <p:nvPicPr>
          <p:cNvPr id="8" name="Picture 7">
            <a:extLst>
              <a:ext uri="{FF2B5EF4-FFF2-40B4-BE49-F238E27FC236}">
                <a16:creationId xmlns:a16="http://schemas.microsoft.com/office/drawing/2014/main" id="{50225FC3-39F7-CCF4-371C-562064369F3E}"/>
              </a:ext>
            </a:extLst>
          </p:cNvPr>
          <p:cNvPicPr>
            <a:picLocks noChangeAspect="1"/>
          </p:cNvPicPr>
          <p:nvPr/>
        </p:nvPicPr>
        <p:blipFill>
          <a:blip r:embed="rId4"/>
          <a:stretch>
            <a:fillRect/>
          </a:stretch>
        </p:blipFill>
        <p:spPr>
          <a:xfrm>
            <a:off x="0" y="7501709"/>
            <a:ext cx="13004800" cy="1731264"/>
          </a:xfrm>
          <a:prstGeom prst="rect">
            <a:avLst/>
          </a:prstGeom>
        </p:spPr>
      </p:pic>
    </p:spTree>
    <p:extLst>
      <p:ext uri="{BB962C8B-B14F-4D97-AF65-F5344CB8AC3E}">
        <p14:creationId xmlns:p14="http://schemas.microsoft.com/office/powerpoint/2010/main" val="169401484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Slide Number Placeholder 4"/>
          <p:cNvSpPr txBox="1">
            <a:spLocks noGrp="1"/>
          </p:cNvSpPr>
          <p:nvPr>
            <p:ph type="sldNum" sz="quarter" idx="2"/>
          </p:nvPr>
        </p:nvSpPr>
        <p:spPr>
          <a:xfrm>
            <a:off x="12383772" y="9059834"/>
            <a:ext cx="238974" cy="34627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16</a:t>
            </a:fld>
            <a:endParaRPr/>
          </a:p>
        </p:txBody>
      </p:sp>
      <p:sp>
        <p:nvSpPr>
          <p:cNvPr id="139" name="Title 1"/>
          <p:cNvSpPr txBox="1">
            <a:spLocks noGrp="1"/>
          </p:cNvSpPr>
          <p:nvPr>
            <p:ph type="title"/>
          </p:nvPr>
        </p:nvSpPr>
        <p:spPr>
          <a:xfrm>
            <a:off x="1625599" y="317461"/>
            <a:ext cx="9753602" cy="914401"/>
          </a:xfrm>
          <a:prstGeom prst="rect">
            <a:avLst/>
          </a:prstGeom>
        </p:spPr>
        <p:txBody>
          <a:bodyPr>
            <a:normAutofit fontScale="90000"/>
          </a:bodyPr>
          <a:lstStyle>
            <a:lvl1pPr>
              <a:defRPr sz="5800" b="1">
                <a:effectLst>
                  <a:outerShdw blurRad="38100" dist="38100" dir="2700000" rotWithShape="0">
                    <a:srgbClr val="000000">
                      <a:alpha val="43137"/>
                    </a:srgbClr>
                  </a:outerShdw>
                </a:effectLst>
                <a:latin typeface="+mn-lt"/>
                <a:ea typeface="+mn-ea"/>
                <a:cs typeface="+mn-cs"/>
                <a:sym typeface="Times New Roman"/>
              </a:defRPr>
            </a:lvl1pPr>
          </a:lstStyle>
          <a:p>
            <a:r>
              <a:rPr lang="en-US" dirty="0"/>
              <a:t>FPGA implementation</a:t>
            </a:r>
            <a:endParaRPr dirty="0"/>
          </a:p>
        </p:txBody>
      </p:sp>
      <p:pic>
        <p:nvPicPr>
          <p:cNvPr id="2" name="Picture 1">
            <a:extLst>
              <a:ext uri="{FF2B5EF4-FFF2-40B4-BE49-F238E27FC236}">
                <a16:creationId xmlns:a16="http://schemas.microsoft.com/office/drawing/2014/main" id="{033D548F-BD67-9485-4CE1-20362B4DC541}"/>
              </a:ext>
            </a:extLst>
          </p:cNvPr>
          <p:cNvPicPr>
            <a:picLocks noChangeAspect="1"/>
          </p:cNvPicPr>
          <p:nvPr/>
        </p:nvPicPr>
        <p:blipFill>
          <a:blip r:embed="rId2"/>
          <a:stretch>
            <a:fillRect/>
          </a:stretch>
        </p:blipFill>
        <p:spPr>
          <a:xfrm>
            <a:off x="10111408" y="1"/>
            <a:ext cx="2893391" cy="774661"/>
          </a:xfrm>
          <a:prstGeom prst="rect">
            <a:avLst/>
          </a:prstGeom>
        </p:spPr>
      </p:pic>
      <p:graphicFrame>
        <p:nvGraphicFramePr>
          <p:cNvPr id="4" name="Table 3">
            <a:extLst>
              <a:ext uri="{FF2B5EF4-FFF2-40B4-BE49-F238E27FC236}">
                <a16:creationId xmlns:a16="http://schemas.microsoft.com/office/drawing/2014/main" id="{4A5C14F6-0C12-FF44-D225-FD9ABD31947E}"/>
              </a:ext>
            </a:extLst>
          </p:cNvPr>
          <p:cNvGraphicFramePr>
            <a:graphicFrameLocks noGrp="1"/>
          </p:cNvGraphicFramePr>
          <p:nvPr>
            <p:extLst>
              <p:ext uri="{D42A27DB-BD31-4B8C-83A1-F6EECF244321}">
                <p14:modId xmlns:p14="http://schemas.microsoft.com/office/powerpoint/2010/main" val="1300752436"/>
              </p:ext>
            </p:extLst>
          </p:nvPr>
        </p:nvGraphicFramePr>
        <p:xfrm>
          <a:off x="1429023" y="2146263"/>
          <a:ext cx="10129080" cy="3368235"/>
        </p:xfrm>
        <a:graphic>
          <a:graphicData uri="http://schemas.openxmlformats.org/drawingml/2006/table">
            <a:tbl>
              <a:tblPr firstRow="1" firstCol="1" bandRow="1">
                <a:tableStyleId>{5940675A-B579-460E-94D1-54222C63F5DA}</a:tableStyleId>
              </a:tblPr>
              <a:tblGrid>
                <a:gridCol w="2532270">
                  <a:extLst>
                    <a:ext uri="{9D8B030D-6E8A-4147-A177-3AD203B41FA5}">
                      <a16:colId xmlns:a16="http://schemas.microsoft.com/office/drawing/2014/main" val="114950913"/>
                    </a:ext>
                  </a:extLst>
                </a:gridCol>
                <a:gridCol w="2532270">
                  <a:extLst>
                    <a:ext uri="{9D8B030D-6E8A-4147-A177-3AD203B41FA5}">
                      <a16:colId xmlns:a16="http://schemas.microsoft.com/office/drawing/2014/main" val="2289187076"/>
                    </a:ext>
                  </a:extLst>
                </a:gridCol>
                <a:gridCol w="2532270">
                  <a:extLst>
                    <a:ext uri="{9D8B030D-6E8A-4147-A177-3AD203B41FA5}">
                      <a16:colId xmlns:a16="http://schemas.microsoft.com/office/drawing/2014/main" val="3101801394"/>
                    </a:ext>
                  </a:extLst>
                </a:gridCol>
                <a:gridCol w="2532270">
                  <a:extLst>
                    <a:ext uri="{9D8B030D-6E8A-4147-A177-3AD203B41FA5}">
                      <a16:colId xmlns:a16="http://schemas.microsoft.com/office/drawing/2014/main" val="843861731"/>
                    </a:ext>
                  </a:extLst>
                </a:gridCol>
              </a:tblGrid>
              <a:tr h="640272">
                <a:tc>
                  <a:txBody>
                    <a:bodyPr/>
                    <a:lstStyle/>
                    <a:p>
                      <a:pPr algn="ctr">
                        <a:lnSpc>
                          <a:spcPct val="150000"/>
                        </a:lnSpc>
                        <a:spcAft>
                          <a:spcPts val="1000"/>
                        </a:spcAft>
                        <a:buNone/>
                      </a:pPr>
                      <a:r>
                        <a:rPr lang="en-US" sz="2400" b="1" dirty="0">
                          <a:effectLst/>
                        </a:rPr>
                        <a:t>Resource</a:t>
                      </a:r>
                      <a:endParaRPr lang="en-IN" sz="2000" b="1" dirty="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ctr">
                        <a:lnSpc>
                          <a:spcPct val="150000"/>
                        </a:lnSpc>
                        <a:spcAft>
                          <a:spcPts val="1000"/>
                        </a:spcAft>
                        <a:buNone/>
                      </a:pPr>
                      <a:r>
                        <a:rPr lang="en-US" sz="2400" b="1" dirty="0">
                          <a:effectLst/>
                        </a:rPr>
                        <a:t>Used</a:t>
                      </a:r>
                      <a:endParaRPr lang="en-IN" sz="2000" b="1" dirty="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ctr">
                        <a:lnSpc>
                          <a:spcPct val="150000"/>
                        </a:lnSpc>
                        <a:spcAft>
                          <a:spcPts val="1000"/>
                        </a:spcAft>
                        <a:buNone/>
                      </a:pPr>
                      <a:r>
                        <a:rPr lang="en-US" sz="2400" b="1" dirty="0">
                          <a:effectLst/>
                        </a:rPr>
                        <a:t>Available</a:t>
                      </a:r>
                      <a:endParaRPr lang="en-IN" sz="2000" b="1" dirty="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ctr">
                        <a:lnSpc>
                          <a:spcPct val="150000"/>
                        </a:lnSpc>
                        <a:spcAft>
                          <a:spcPts val="1000"/>
                        </a:spcAft>
                        <a:buNone/>
                      </a:pPr>
                      <a:r>
                        <a:rPr lang="en-US" sz="2400" b="1" dirty="0">
                          <a:effectLst/>
                        </a:rPr>
                        <a:t>Utilization (%)</a:t>
                      </a:r>
                      <a:endParaRPr lang="en-IN" sz="2000" b="1" dirty="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extLst>
                  <a:ext uri="{0D108BD9-81ED-4DB2-BD59-A6C34878D82A}">
                    <a16:rowId xmlns:a16="http://schemas.microsoft.com/office/drawing/2014/main" val="41098092"/>
                  </a:ext>
                </a:extLst>
              </a:tr>
              <a:tr h="299592">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LUT</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374</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53,200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0.70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extLst>
                  <a:ext uri="{0D108BD9-81ED-4DB2-BD59-A6C34878D82A}">
                    <a16:rowId xmlns:a16="http://schemas.microsoft.com/office/drawing/2014/main" val="2152037315"/>
                  </a:ext>
                </a:extLst>
              </a:tr>
              <a:tr h="640272">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FF</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353</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1,06,400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0.33</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extLst>
                  <a:ext uri="{0D108BD9-81ED-4DB2-BD59-A6C34878D82A}">
                    <a16:rowId xmlns:a16="http://schemas.microsoft.com/office/drawing/2014/main" val="2117575580"/>
                  </a:ext>
                </a:extLst>
              </a:tr>
              <a:tr h="640272">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BRAM (36K)</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1</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140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0.71</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extLst>
                  <a:ext uri="{0D108BD9-81ED-4DB2-BD59-A6C34878D82A}">
                    <a16:rowId xmlns:a16="http://schemas.microsoft.com/office/drawing/2014/main" val="2024202637"/>
                  </a:ext>
                </a:extLst>
              </a:tr>
              <a:tr h="299592">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DSP48</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220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0</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extLst>
                  <a:ext uri="{0D108BD9-81ED-4DB2-BD59-A6C34878D82A}">
                    <a16:rowId xmlns:a16="http://schemas.microsoft.com/office/drawing/2014/main" val="3566720783"/>
                  </a:ext>
                </a:extLst>
              </a:tr>
              <a:tr h="299592">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IO</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106</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a:effectLst/>
                          <a:latin typeface="Times New Roman" panose="02020603050405020304" pitchFamily="18" charset="0"/>
                          <a:ea typeface="MS Mincho" panose="02020609040205080304" pitchFamily="49" charset="-128"/>
                          <a:cs typeface="Cambria" panose="02040503050406030204" pitchFamily="18" charset="0"/>
                        </a:rPr>
                        <a:t>125</a:t>
                      </a:r>
                      <a:endParaRPr lang="en-IN" sz="200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tc>
                  <a:txBody>
                    <a:bodyPr/>
                    <a:lstStyle/>
                    <a:p>
                      <a:pPr algn="l">
                        <a:lnSpc>
                          <a:spcPct val="150000"/>
                        </a:lnSpc>
                        <a:spcAft>
                          <a:spcPts val="1000"/>
                        </a:spcAft>
                        <a:buNone/>
                      </a:pPr>
                      <a:r>
                        <a:rPr lang="en-US" sz="2400" dirty="0">
                          <a:effectLst/>
                          <a:latin typeface="Times New Roman" panose="02020603050405020304" pitchFamily="18" charset="0"/>
                          <a:ea typeface="MS Mincho" panose="02020609040205080304" pitchFamily="49" charset="-128"/>
                          <a:cs typeface="Cambria" panose="02040503050406030204" pitchFamily="18" charset="0"/>
                        </a:rPr>
                        <a:t>84.80</a:t>
                      </a:r>
                      <a:endParaRPr lang="en-IN" sz="2000" dirty="0">
                        <a:effectLst/>
                        <a:latin typeface="Cambria" panose="02040503050406030204" pitchFamily="18" charset="0"/>
                        <a:ea typeface="MS Mincho" panose="02020609040205080304" pitchFamily="49" charset="-128"/>
                        <a:cs typeface="Cambria" panose="02040503050406030204" pitchFamily="18" charset="0"/>
                      </a:endParaRPr>
                    </a:p>
                  </a:txBody>
                  <a:tcPr marL="68580" marR="68580" marT="0" marB="0"/>
                </a:tc>
                <a:extLst>
                  <a:ext uri="{0D108BD9-81ED-4DB2-BD59-A6C34878D82A}">
                    <a16:rowId xmlns:a16="http://schemas.microsoft.com/office/drawing/2014/main" val="2729612072"/>
                  </a:ext>
                </a:extLst>
              </a:tr>
            </a:tbl>
          </a:graphicData>
        </a:graphic>
      </p:graphicFrame>
      <p:sp>
        <p:nvSpPr>
          <p:cNvPr id="5" name="Title 1">
            <a:extLst>
              <a:ext uri="{FF2B5EF4-FFF2-40B4-BE49-F238E27FC236}">
                <a16:creationId xmlns:a16="http://schemas.microsoft.com/office/drawing/2014/main" id="{EC6A4A75-B4BC-294B-A307-C5FC45FE98AC}"/>
              </a:ext>
            </a:extLst>
          </p:cNvPr>
          <p:cNvSpPr txBox="1">
            <a:spLocks/>
          </p:cNvSpPr>
          <p:nvPr/>
        </p:nvSpPr>
        <p:spPr>
          <a:xfrm>
            <a:off x="0" y="1231862"/>
            <a:ext cx="4490279" cy="728280"/>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733973" rtl="0" latinLnBrk="0">
              <a:lnSpc>
                <a:spcPct val="100000"/>
              </a:lnSpc>
              <a:spcBef>
                <a:spcPts val="0"/>
              </a:spcBef>
              <a:spcAft>
                <a:spcPts val="0"/>
              </a:spcAft>
              <a:buClrTx/>
              <a:buSzTx/>
              <a:buFontTx/>
              <a:buNone/>
              <a:tabLst/>
              <a:defRPr sz="5800" b="1" i="0" u="none" strike="noStrike" cap="none" spc="0" baseline="0">
                <a:solidFill>
                  <a:srgbClr val="000000"/>
                </a:solidFill>
                <a:effectLst>
                  <a:outerShdw blurRad="38100" dist="38100"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3600" dirty="0"/>
              <a:t>Resource Utilization:</a:t>
            </a:r>
          </a:p>
        </p:txBody>
      </p:sp>
      <p:sp>
        <p:nvSpPr>
          <p:cNvPr id="6" name="Title 1">
            <a:extLst>
              <a:ext uri="{FF2B5EF4-FFF2-40B4-BE49-F238E27FC236}">
                <a16:creationId xmlns:a16="http://schemas.microsoft.com/office/drawing/2014/main" id="{E932C373-26ED-CDF7-BF24-6F0C6F492448}"/>
              </a:ext>
            </a:extLst>
          </p:cNvPr>
          <p:cNvSpPr txBox="1">
            <a:spLocks/>
          </p:cNvSpPr>
          <p:nvPr/>
        </p:nvSpPr>
        <p:spPr>
          <a:xfrm>
            <a:off x="-1" y="5670054"/>
            <a:ext cx="4490279" cy="728280"/>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733973" rtl="0" latinLnBrk="0">
              <a:lnSpc>
                <a:spcPct val="100000"/>
              </a:lnSpc>
              <a:spcBef>
                <a:spcPts val="0"/>
              </a:spcBef>
              <a:spcAft>
                <a:spcPts val="0"/>
              </a:spcAft>
              <a:buClrTx/>
              <a:buSzTx/>
              <a:buFontTx/>
              <a:buNone/>
              <a:tabLst/>
              <a:defRPr sz="5800" b="1" i="0" u="none" strike="noStrike" cap="none" spc="0" baseline="0">
                <a:solidFill>
                  <a:srgbClr val="000000"/>
                </a:solidFill>
                <a:effectLst>
                  <a:outerShdw blurRad="38100" dist="38100"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3600" dirty="0"/>
              <a:t>Power Consumption:</a:t>
            </a:r>
          </a:p>
        </p:txBody>
      </p:sp>
      <p:graphicFrame>
        <p:nvGraphicFramePr>
          <p:cNvPr id="7" name="Table 6">
            <a:extLst>
              <a:ext uri="{FF2B5EF4-FFF2-40B4-BE49-F238E27FC236}">
                <a16:creationId xmlns:a16="http://schemas.microsoft.com/office/drawing/2014/main" id="{BE5ADC42-F2A4-11A1-167E-7B5E02E31401}"/>
              </a:ext>
            </a:extLst>
          </p:cNvPr>
          <p:cNvGraphicFramePr>
            <a:graphicFrameLocks noGrp="1"/>
          </p:cNvGraphicFramePr>
          <p:nvPr>
            <p:extLst>
              <p:ext uri="{D42A27DB-BD31-4B8C-83A1-F6EECF244321}">
                <p14:modId xmlns:p14="http://schemas.microsoft.com/office/powerpoint/2010/main" val="3323257750"/>
              </p:ext>
            </p:extLst>
          </p:nvPr>
        </p:nvGraphicFramePr>
        <p:xfrm>
          <a:off x="1429023" y="6553890"/>
          <a:ext cx="10129080" cy="2418581"/>
        </p:xfrm>
        <a:graphic>
          <a:graphicData uri="http://schemas.openxmlformats.org/drawingml/2006/table">
            <a:tbl>
              <a:tblPr firstRow="1" firstCol="1" bandRow="1">
                <a:tableStyleId>{5940675A-B579-460E-94D1-54222C63F5DA}</a:tableStyleId>
              </a:tblPr>
              <a:tblGrid>
                <a:gridCol w="5064540">
                  <a:extLst>
                    <a:ext uri="{9D8B030D-6E8A-4147-A177-3AD203B41FA5}">
                      <a16:colId xmlns:a16="http://schemas.microsoft.com/office/drawing/2014/main" val="956717596"/>
                    </a:ext>
                  </a:extLst>
                </a:gridCol>
                <a:gridCol w="5064540">
                  <a:extLst>
                    <a:ext uri="{9D8B030D-6E8A-4147-A177-3AD203B41FA5}">
                      <a16:colId xmlns:a16="http://schemas.microsoft.com/office/drawing/2014/main" val="267502811"/>
                    </a:ext>
                  </a:extLst>
                </a:gridCol>
              </a:tblGrid>
              <a:tr h="228665">
                <a:tc>
                  <a:txBody>
                    <a:bodyPr/>
                    <a:lstStyle/>
                    <a:p>
                      <a:pPr algn="ctr">
                        <a:lnSpc>
                          <a:spcPct val="150000"/>
                        </a:lnSpc>
                        <a:spcAft>
                          <a:spcPts val="1000"/>
                        </a:spcAft>
                        <a:buNone/>
                      </a:pPr>
                      <a:r>
                        <a:rPr lang="en-US" sz="2400" b="1" dirty="0">
                          <a:effectLst/>
                        </a:rPr>
                        <a:t>Parameter</a:t>
                      </a:r>
                      <a:endParaRPr lang="en-IN" sz="1800" b="1" dirty="0">
                        <a:effectLst/>
                        <a:latin typeface="Cambria" panose="02040503050406030204" pitchFamily="18" charset="0"/>
                        <a:ea typeface="MS Mincho" panose="02020609040205080304" pitchFamily="49" charset="-128"/>
                        <a:cs typeface="Cambria" panose="02040503050406030204" pitchFamily="18" charset="0"/>
                      </a:endParaRPr>
                    </a:p>
                  </a:txBody>
                  <a:tcPr marL="65006" marR="65006" marT="0" marB="0"/>
                </a:tc>
                <a:tc>
                  <a:txBody>
                    <a:bodyPr/>
                    <a:lstStyle/>
                    <a:p>
                      <a:pPr algn="ctr">
                        <a:lnSpc>
                          <a:spcPct val="150000"/>
                        </a:lnSpc>
                        <a:spcAft>
                          <a:spcPts val="1000"/>
                        </a:spcAft>
                        <a:buNone/>
                      </a:pPr>
                      <a:r>
                        <a:rPr lang="en-US" sz="2400" b="1" dirty="0">
                          <a:effectLst/>
                        </a:rPr>
                        <a:t>Value</a:t>
                      </a:r>
                      <a:endParaRPr lang="en-IN" sz="1800" b="1" dirty="0">
                        <a:effectLst/>
                        <a:latin typeface="Cambria" panose="02040503050406030204" pitchFamily="18" charset="0"/>
                        <a:ea typeface="MS Mincho" panose="02020609040205080304" pitchFamily="49" charset="-128"/>
                        <a:cs typeface="Cambria" panose="02040503050406030204" pitchFamily="18" charset="0"/>
                      </a:endParaRPr>
                    </a:p>
                  </a:txBody>
                  <a:tcPr marL="65006" marR="65006" marT="0" marB="0"/>
                </a:tc>
                <a:extLst>
                  <a:ext uri="{0D108BD9-81ED-4DB2-BD59-A6C34878D82A}">
                    <a16:rowId xmlns:a16="http://schemas.microsoft.com/office/drawing/2014/main" val="3276542161"/>
                  </a:ext>
                </a:extLst>
              </a:tr>
              <a:tr h="228665">
                <a:tc>
                  <a:txBody>
                    <a:bodyPr/>
                    <a:lstStyle/>
                    <a:p>
                      <a:pPr algn="l">
                        <a:lnSpc>
                          <a:spcPct val="150000"/>
                        </a:lnSpc>
                        <a:spcAft>
                          <a:spcPts val="1000"/>
                        </a:spcAft>
                        <a:buNone/>
                      </a:pPr>
                      <a:r>
                        <a:rPr lang="en-US" sz="2400" dirty="0">
                          <a:effectLst/>
                        </a:rPr>
                        <a:t>Total On-Chip Power</a:t>
                      </a:r>
                      <a:endParaRPr lang="en-IN" sz="1800" dirty="0">
                        <a:effectLst/>
                        <a:latin typeface="Cambria" panose="02040503050406030204" pitchFamily="18" charset="0"/>
                        <a:ea typeface="MS Mincho" panose="02020609040205080304" pitchFamily="49" charset="-128"/>
                        <a:cs typeface="Cambria" panose="02040503050406030204" pitchFamily="18" charset="0"/>
                      </a:endParaRPr>
                    </a:p>
                  </a:txBody>
                  <a:tcPr marL="65006" marR="65006" marT="0" marB="0"/>
                </a:tc>
                <a:tc>
                  <a:txBody>
                    <a:bodyPr/>
                    <a:lstStyle/>
                    <a:p>
                      <a:pPr algn="l">
                        <a:lnSpc>
                          <a:spcPct val="150000"/>
                        </a:lnSpc>
                        <a:spcAft>
                          <a:spcPts val="1000"/>
                        </a:spcAft>
                        <a:buNone/>
                      </a:pPr>
                      <a:r>
                        <a:rPr lang="en-US" sz="2400">
                          <a:effectLst/>
                        </a:rPr>
                        <a:t>0.0118 W</a:t>
                      </a:r>
                      <a:endParaRPr lang="en-IN" sz="1800">
                        <a:effectLst/>
                        <a:latin typeface="Cambria" panose="02040503050406030204" pitchFamily="18" charset="0"/>
                        <a:ea typeface="MS Mincho" panose="02020609040205080304" pitchFamily="49" charset="-128"/>
                        <a:cs typeface="Cambria" panose="02040503050406030204" pitchFamily="18" charset="0"/>
                      </a:endParaRPr>
                    </a:p>
                  </a:txBody>
                  <a:tcPr marL="65006" marR="65006" marT="0" marB="0"/>
                </a:tc>
                <a:extLst>
                  <a:ext uri="{0D108BD9-81ED-4DB2-BD59-A6C34878D82A}">
                    <a16:rowId xmlns:a16="http://schemas.microsoft.com/office/drawing/2014/main" val="2493249088"/>
                  </a:ext>
                </a:extLst>
              </a:tr>
              <a:tr h="488689">
                <a:tc>
                  <a:txBody>
                    <a:bodyPr/>
                    <a:lstStyle/>
                    <a:p>
                      <a:pPr algn="l">
                        <a:lnSpc>
                          <a:spcPct val="150000"/>
                        </a:lnSpc>
                        <a:spcAft>
                          <a:spcPts val="1000"/>
                        </a:spcAft>
                        <a:buNone/>
                      </a:pPr>
                      <a:r>
                        <a:rPr lang="en-US" sz="2400">
                          <a:effectLst/>
                        </a:rPr>
                        <a:t>Power Supplied to off -chip devices</a:t>
                      </a:r>
                      <a:endParaRPr lang="en-IN" sz="1800">
                        <a:effectLst/>
                        <a:latin typeface="Cambria" panose="02040503050406030204" pitchFamily="18" charset="0"/>
                        <a:ea typeface="MS Mincho" panose="02020609040205080304" pitchFamily="49" charset="-128"/>
                        <a:cs typeface="Cambria" panose="02040503050406030204" pitchFamily="18" charset="0"/>
                      </a:endParaRPr>
                    </a:p>
                  </a:txBody>
                  <a:tcPr marL="65006" marR="65006" marT="0" marB="0"/>
                </a:tc>
                <a:tc>
                  <a:txBody>
                    <a:bodyPr/>
                    <a:lstStyle/>
                    <a:p>
                      <a:pPr algn="l">
                        <a:lnSpc>
                          <a:spcPct val="150000"/>
                        </a:lnSpc>
                        <a:spcAft>
                          <a:spcPts val="1000"/>
                        </a:spcAft>
                        <a:buNone/>
                      </a:pPr>
                      <a:r>
                        <a:rPr lang="en-US" sz="2400" dirty="0">
                          <a:effectLst/>
                        </a:rPr>
                        <a:t>0 W</a:t>
                      </a:r>
                      <a:endParaRPr lang="en-IN" sz="1800" dirty="0">
                        <a:effectLst/>
                        <a:latin typeface="Cambria" panose="02040503050406030204" pitchFamily="18" charset="0"/>
                        <a:ea typeface="MS Mincho" panose="02020609040205080304" pitchFamily="49" charset="-128"/>
                        <a:cs typeface="Cambria" panose="02040503050406030204" pitchFamily="18" charset="0"/>
                      </a:endParaRPr>
                    </a:p>
                  </a:txBody>
                  <a:tcPr marL="65006" marR="65006" marT="0" marB="0"/>
                </a:tc>
                <a:extLst>
                  <a:ext uri="{0D108BD9-81ED-4DB2-BD59-A6C34878D82A}">
                    <a16:rowId xmlns:a16="http://schemas.microsoft.com/office/drawing/2014/main" val="4131065352"/>
                  </a:ext>
                </a:extLst>
              </a:tr>
              <a:tr h="228665">
                <a:tc>
                  <a:txBody>
                    <a:bodyPr/>
                    <a:lstStyle/>
                    <a:p>
                      <a:pPr algn="l">
                        <a:lnSpc>
                          <a:spcPct val="150000"/>
                        </a:lnSpc>
                        <a:spcAft>
                          <a:spcPts val="1000"/>
                        </a:spcAft>
                        <a:buNone/>
                      </a:pPr>
                      <a:r>
                        <a:rPr lang="en-US" sz="2400">
                          <a:effectLst/>
                        </a:rPr>
                        <a:t>Junction Temperature</a:t>
                      </a:r>
                      <a:endParaRPr lang="en-IN" sz="1800">
                        <a:effectLst/>
                        <a:latin typeface="Cambria" panose="02040503050406030204" pitchFamily="18" charset="0"/>
                        <a:ea typeface="MS Mincho" panose="02020609040205080304" pitchFamily="49" charset="-128"/>
                        <a:cs typeface="Cambria" panose="02040503050406030204" pitchFamily="18" charset="0"/>
                      </a:endParaRPr>
                    </a:p>
                  </a:txBody>
                  <a:tcPr marL="65006" marR="65006" marT="0" marB="0"/>
                </a:tc>
                <a:tc>
                  <a:txBody>
                    <a:bodyPr/>
                    <a:lstStyle/>
                    <a:p>
                      <a:pPr algn="l">
                        <a:lnSpc>
                          <a:spcPct val="150000"/>
                        </a:lnSpc>
                        <a:spcAft>
                          <a:spcPts val="1000"/>
                        </a:spcAft>
                        <a:buNone/>
                      </a:pPr>
                      <a:r>
                        <a:rPr lang="en-US" sz="2400" dirty="0">
                          <a:effectLst/>
                        </a:rPr>
                        <a:t>25.0 ℃</a:t>
                      </a:r>
                      <a:endParaRPr lang="en-IN" sz="1800" dirty="0">
                        <a:effectLst/>
                        <a:latin typeface="Cambria" panose="02040503050406030204" pitchFamily="18" charset="0"/>
                        <a:ea typeface="MS Mincho" panose="02020609040205080304" pitchFamily="49" charset="-128"/>
                        <a:cs typeface="Cambria" panose="02040503050406030204" pitchFamily="18" charset="0"/>
                      </a:endParaRPr>
                    </a:p>
                  </a:txBody>
                  <a:tcPr marL="65006" marR="65006" marT="0" marB="0"/>
                </a:tc>
                <a:extLst>
                  <a:ext uri="{0D108BD9-81ED-4DB2-BD59-A6C34878D82A}">
                    <a16:rowId xmlns:a16="http://schemas.microsoft.com/office/drawing/2014/main" val="2521017934"/>
                  </a:ext>
                </a:extLst>
              </a:tr>
              <a:tr h="228665">
                <a:tc>
                  <a:txBody>
                    <a:bodyPr/>
                    <a:lstStyle/>
                    <a:p>
                      <a:pPr algn="l">
                        <a:lnSpc>
                          <a:spcPct val="150000"/>
                        </a:lnSpc>
                        <a:spcAft>
                          <a:spcPts val="1000"/>
                        </a:spcAft>
                        <a:buNone/>
                      </a:pPr>
                      <a:r>
                        <a:rPr lang="en-US" sz="2400">
                          <a:effectLst/>
                        </a:rPr>
                        <a:t>Thermal Margin</a:t>
                      </a:r>
                      <a:endParaRPr lang="en-IN" sz="1800">
                        <a:effectLst/>
                        <a:latin typeface="Cambria" panose="02040503050406030204" pitchFamily="18" charset="0"/>
                        <a:ea typeface="MS Mincho" panose="02020609040205080304" pitchFamily="49" charset="-128"/>
                        <a:cs typeface="Cambria" panose="02040503050406030204" pitchFamily="18" charset="0"/>
                      </a:endParaRPr>
                    </a:p>
                  </a:txBody>
                  <a:tcPr marL="65006" marR="65006" marT="0" marB="0"/>
                </a:tc>
                <a:tc>
                  <a:txBody>
                    <a:bodyPr/>
                    <a:lstStyle/>
                    <a:p>
                      <a:pPr algn="l">
                        <a:lnSpc>
                          <a:spcPct val="150000"/>
                        </a:lnSpc>
                        <a:spcAft>
                          <a:spcPts val="1000"/>
                        </a:spcAft>
                        <a:buNone/>
                      </a:pPr>
                      <a:r>
                        <a:rPr lang="en-US" sz="2400" dirty="0">
                          <a:effectLst/>
                        </a:rPr>
                        <a:t>58.6℃</a:t>
                      </a:r>
                      <a:endParaRPr lang="en-IN" sz="1800" dirty="0">
                        <a:effectLst/>
                        <a:latin typeface="Cambria" panose="02040503050406030204" pitchFamily="18" charset="0"/>
                        <a:ea typeface="MS Mincho" panose="02020609040205080304" pitchFamily="49" charset="-128"/>
                        <a:cs typeface="Cambria" panose="02040503050406030204" pitchFamily="18" charset="0"/>
                      </a:endParaRPr>
                    </a:p>
                  </a:txBody>
                  <a:tcPr marL="65006" marR="65006" marT="0" marB="0"/>
                </a:tc>
                <a:extLst>
                  <a:ext uri="{0D108BD9-81ED-4DB2-BD59-A6C34878D82A}">
                    <a16:rowId xmlns:a16="http://schemas.microsoft.com/office/drawing/2014/main" val="3378693448"/>
                  </a:ext>
                </a:extLst>
              </a:tr>
            </a:tbl>
          </a:graphicData>
        </a:graphic>
      </p:graphicFrame>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3A6D5-0EBB-760E-08C6-6F8556E1BD90}"/>
            </a:ext>
          </a:extLst>
        </p:cNvPr>
        <p:cNvGrpSpPr/>
        <p:nvPr/>
      </p:nvGrpSpPr>
      <p:grpSpPr>
        <a:xfrm>
          <a:off x="0" y="0"/>
          <a:ext cx="0" cy="0"/>
          <a:chOff x="0" y="0"/>
          <a:chExt cx="0" cy="0"/>
        </a:xfrm>
      </p:grpSpPr>
      <p:sp>
        <p:nvSpPr>
          <p:cNvPr id="138" name="Slide Number Placeholder 4">
            <a:extLst>
              <a:ext uri="{FF2B5EF4-FFF2-40B4-BE49-F238E27FC236}">
                <a16:creationId xmlns:a16="http://schemas.microsoft.com/office/drawing/2014/main" id="{015BF876-D356-9634-90B3-8979FD8522B5}"/>
              </a:ext>
            </a:extLst>
          </p:cNvPr>
          <p:cNvSpPr txBox="1">
            <a:spLocks noGrp="1"/>
          </p:cNvSpPr>
          <p:nvPr>
            <p:ph type="sldNum" sz="quarter" idx="2"/>
          </p:nvPr>
        </p:nvSpPr>
        <p:spPr>
          <a:xfrm>
            <a:off x="12383772" y="9059834"/>
            <a:ext cx="238974" cy="34627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sp>
        <p:nvSpPr>
          <p:cNvPr id="139" name="Title 1">
            <a:extLst>
              <a:ext uri="{FF2B5EF4-FFF2-40B4-BE49-F238E27FC236}">
                <a16:creationId xmlns:a16="http://schemas.microsoft.com/office/drawing/2014/main" id="{A75435CB-A557-3A92-8E68-70A951909A80}"/>
              </a:ext>
            </a:extLst>
          </p:cNvPr>
          <p:cNvSpPr txBox="1">
            <a:spLocks noGrp="1"/>
          </p:cNvSpPr>
          <p:nvPr>
            <p:ph type="title"/>
          </p:nvPr>
        </p:nvSpPr>
        <p:spPr>
          <a:xfrm>
            <a:off x="1625598" y="622261"/>
            <a:ext cx="9753602" cy="914401"/>
          </a:xfrm>
          <a:prstGeom prst="rect">
            <a:avLst/>
          </a:prstGeom>
        </p:spPr>
        <p:txBody>
          <a:bodyPr>
            <a:normAutofit fontScale="90000"/>
          </a:bodyPr>
          <a:lstStyle>
            <a:lvl1pPr>
              <a:defRPr sz="5800" b="1">
                <a:effectLst>
                  <a:outerShdw blurRad="38100" dist="38100" dir="2700000" rotWithShape="0">
                    <a:srgbClr val="000000">
                      <a:alpha val="43137"/>
                    </a:srgbClr>
                  </a:outerShdw>
                </a:effectLst>
                <a:latin typeface="+mn-lt"/>
                <a:ea typeface="+mn-ea"/>
                <a:cs typeface="+mn-cs"/>
                <a:sym typeface="Times New Roman"/>
              </a:defRPr>
            </a:lvl1pPr>
          </a:lstStyle>
          <a:p>
            <a:r>
              <a:rPr lang="en-US" dirty="0"/>
              <a:t>Comparison with other works</a:t>
            </a:r>
            <a:endParaRPr dirty="0"/>
          </a:p>
        </p:txBody>
      </p:sp>
      <p:pic>
        <p:nvPicPr>
          <p:cNvPr id="2" name="Picture 1">
            <a:extLst>
              <a:ext uri="{FF2B5EF4-FFF2-40B4-BE49-F238E27FC236}">
                <a16:creationId xmlns:a16="http://schemas.microsoft.com/office/drawing/2014/main" id="{452AC361-F063-9AC0-E68D-8A39B72BD49E}"/>
              </a:ext>
            </a:extLst>
          </p:cNvPr>
          <p:cNvPicPr>
            <a:picLocks noChangeAspect="1"/>
          </p:cNvPicPr>
          <p:nvPr/>
        </p:nvPicPr>
        <p:blipFill>
          <a:blip r:embed="rId2"/>
          <a:stretch>
            <a:fillRect/>
          </a:stretch>
        </p:blipFill>
        <p:spPr>
          <a:xfrm>
            <a:off x="10111408" y="1"/>
            <a:ext cx="2893391" cy="774661"/>
          </a:xfrm>
          <a:prstGeom prst="rect">
            <a:avLst/>
          </a:prstGeom>
        </p:spPr>
      </p:pic>
      <p:graphicFrame>
        <p:nvGraphicFramePr>
          <p:cNvPr id="3" name="Table 2">
            <a:extLst>
              <a:ext uri="{FF2B5EF4-FFF2-40B4-BE49-F238E27FC236}">
                <a16:creationId xmlns:a16="http://schemas.microsoft.com/office/drawing/2014/main" id="{FC1D979E-496E-E25F-A278-503F801D6BB7}"/>
              </a:ext>
            </a:extLst>
          </p:cNvPr>
          <p:cNvGraphicFramePr>
            <a:graphicFrameLocks noGrp="1"/>
          </p:cNvGraphicFramePr>
          <p:nvPr>
            <p:extLst>
              <p:ext uri="{D42A27DB-BD31-4B8C-83A1-F6EECF244321}">
                <p14:modId xmlns:p14="http://schemas.microsoft.com/office/powerpoint/2010/main" val="2574230123"/>
              </p:ext>
            </p:extLst>
          </p:nvPr>
        </p:nvGraphicFramePr>
        <p:xfrm>
          <a:off x="767713" y="2829560"/>
          <a:ext cx="11469373" cy="2961005"/>
        </p:xfrm>
        <a:graphic>
          <a:graphicData uri="http://schemas.openxmlformats.org/drawingml/2006/table">
            <a:tbl>
              <a:tblPr firstRow="1" firstCol="1" bandRow="1">
                <a:tableStyleId>{5940675A-B579-460E-94D1-54222C63F5DA}</a:tableStyleId>
              </a:tblPr>
              <a:tblGrid>
                <a:gridCol w="2259528">
                  <a:extLst>
                    <a:ext uri="{9D8B030D-6E8A-4147-A177-3AD203B41FA5}">
                      <a16:colId xmlns:a16="http://schemas.microsoft.com/office/drawing/2014/main" val="3611642171"/>
                    </a:ext>
                  </a:extLst>
                </a:gridCol>
                <a:gridCol w="2258022">
                  <a:extLst>
                    <a:ext uri="{9D8B030D-6E8A-4147-A177-3AD203B41FA5}">
                      <a16:colId xmlns:a16="http://schemas.microsoft.com/office/drawing/2014/main" val="1127801475"/>
                    </a:ext>
                  </a:extLst>
                </a:gridCol>
                <a:gridCol w="2261040">
                  <a:extLst>
                    <a:ext uri="{9D8B030D-6E8A-4147-A177-3AD203B41FA5}">
                      <a16:colId xmlns:a16="http://schemas.microsoft.com/office/drawing/2014/main" val="3442091410"/>
                    </a:ext>
                  </a:extLst>
                </a:gridCol>
                <a:gridCol w="2426734">
                  <a:extLst>
                    <a:ext uri="{9D8B030D-6E8A-4147-A177-3AD203B41FA5}">
                      <a16:colId xmlns:a16="http://schemas.microsoft.com/office/drawing/2014/main" val="1482835048"/>
                    </a:ext>
                  </a:extLst>
                </a:gridCol>
                <a:gridCol w="2264049">
                  <a:extLst>
                    <a:ext uri="{9D8B030D-6E8A-4147-A177-3AD203B41FA5}">
                      <a16:colId xmlns:a16="http://schemas.microsoft.com/office/drawing/2014/main" val="2992689310"/>
                    </a:ext>
                  </a:extLst>
                </a:gridCol>
              </a:tblGrid>
              <a:tr h="231417">
                <a:tc>
                  <a:txBody>
                    <a:bodyPr/>
                    <a:lstStyle/>
                    <a:p>
                      <a:pPr algn="ctr">
                        <a:lnSpc>
                          <a:spcPct val="150000"/>
                        </a:lnSpc>
                        <a:spcAft>
                          <a:spcPts val="1000"/>
                        </a:spcAft>
                        <a:buNone/>
                      </a:pPr>
                      <a:r>
                        <a:rPr lang="en-US" sz="2400" b="1">
                          <a:effectLst/>
                        </a:rPr>
                        <a:t>Work</a:t>
                      </a:r>
                      <a:endParaRPr lang="en-IN" sz="2400" b="1">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ctr">
                        <a:lnSpc>
                          <a:spcPct val="150000"/>
                        </a:lnSpc>
                        <a:spcAft>
                          <a:spcPts val="1000"/>
                        </a:spcAft>
                        <a:buNone/>
                      </a:pPr>
                      <a:r>
                        <a:rPr lang="en-US" sz="2400" b="1">
                          <a:effectLst/>
                        </a:rPr>
                        <a:t>Algorithm</a:t>
                      </a:r>
                      <a:endParaRPr lang="en-IN" sz="2400" b="1">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ctr">
                        <a:lnSpc>
                          <a:spcPct val="150000"/>
                        </a:lnSpc>
                        <a:spcAft>
                          <a:spcPts val="1000"/>
                        </a:spcAft>
                        <a:buNone/>
                      </a:pPr>
                      <a:r>
                        <a:rPr lang="en-US" sz="2400" b="1">
                          <a:effectLst/>
                        </a:rPr>
                        <a:t>Platform</a:t>
                      </a:r>
                      <a:endParaRPr lang="en-IN" sz="2400" b="1">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ctr">
                        <a:lnSpc>
                          <a:spcPct val="150000"/>
                        </a:lnSpc>
                        <a:spcAft>
                          <a:spcPts val="1000"/>
                        </a:spcAft>
                        <a:buNone/>
                      </a:pPr>
                      <a:r>
                        <a:rPr lang="en-US" sz="2400" b="1">
                          <a:effectLst/>
                        </a:rPr>
                        <a:t>Avg. BPP</a:t>
                      </a:r>
                      <a:endParaRPr lang="en-IN" sz="2400" b="1">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ctr">
                        <a:lnSpc>
                          <a:spcPct val="150000"/>
                        </a:lnSpc>
                        <a:spcAft>
                          <a:spcPts val="1000"/>
                        </a:spcAft>
                        <a:buNone/>
                      </a:pPr>
                      <a:r>
                        <a:rPr lang="en-US" sz="2400" b="1" dirty="0">
                          <a:effectLst/>
                        </a:rPr>
                        <a:t>Year</a:t>
                      </a:r>
                      <a:endParaRPr lang="en-IN" sz="2400" b="1" dirty="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extLst>
                  <a:ext uri="{0D108BD9-81ED-4DB2-BD59-A6C34878D82A}">
                    <a16:rowId xmlns:a16="http://schemas.microsoft.com/office/drawing/2014/main" val="604246084"/>
                  </a:ext>
                </a:extLst>
              </a:tr>
              <a:tr h="231417">
                <a:tc>
                  <a:txBody>
                    <a:bodyPr/>
                    <a:lstStyle/>
                    <a:p>
                      <a:pPr algn="l">
                        <a:lnSpc>
                          <a:spcPct val="150000"/>
                        </a:lnSpc>
                        <a:spcAft>
                          <a:spcPts val="1000"/>
                        </a:spcAft>
                        <a:buNone/>
                      </a:pPr>
                      <a:r>
                        <a:rPr lang="en-US" sz="2400" dirty="0">
                          <a:effectLst/>
                        </a:rPr>
                        <a:t>[1]</a:t>
                      </a:r>
                      <a:endParaRPr lang="en-IN" sz="2400" dirty="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JPEG-LS</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ASIC.18 µm</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6.7</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2001</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extLst>
                  <a:ext uri="{0D108BD9-81ED-4DB2-BD59-A6C34878D82A}">
                    <a16:rowId xmlns:a16="http://schemas.microsoft.com/office/drawing/2014/main" val="833745813"/>
                  </a:ext>
                </a:extLst>
              </a:tr>
              <a:tr h="231417">
                <a:tc>
                  <a:txBody>
                    <a:bodyPr/>
                    <a:lstStyle/>
                    <a:p>
                      <a:pPr algn="l">
                        <a:lnSpc>
                          <a:spcPct val="150000"/>
                        </a:lnSpc>
                        <a:spcAft>
                          <a:spcPts val="1000"/>
                        </a:spcAft>
                        <a:buNone/>
                      </a:pPr>
                      <a:r>
                        <a:rPr lang="en-US" sz="2400" dirty="0">
                          <a:effectLst/>
                        </a:rPr>
                        <a:t>[2]</a:t>
                      </a:r>
                      <a:endParaRPr lang="en-IN" sz="2400" dirty="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Context-based</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Virtex-4 FPGA</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5.2</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2007</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extLst>
                  <a:ext uri="{0D108BD9-81ED-4DB2-BD59-A6C34878D82A}">
                    <a16:rowId xmlns:a16="http://schemas.microsoft.com/office/drawing/2014/main" val="2893222103"/>
                  </a:ext>
                </a:extLst>
              </a:tr>
              <a:tr h="231417">
                <a:tc>
                  <a:txBody>
                    <a:bodyPr/>
                    <a:lstStyle/>
                    <a:p>
                      <a:pPr algn="l">
                        <a:lnSpc>
                          <a:spcPct val="150000"/>
                        </a:lnSpc>
                        <a:spcAft>
                          <a:spcPts val="1000"/>
                        </a:spcAft>
                        <a:buNone/>
                      </a:pPr>
                      <a:r>
                        <a:rPr lang="en-US" sz="2400" dirty="0">
                          <a:effectLst/>
                        </a:rPr>
                        <a:t>[3]</a:t>
                      </a:r>
                      <a:endParaRPr lang="en-IN" sz="2400" dirty="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LOCO-I</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Zynq-7000</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6.4</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2019</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extLst>
                  <a:ext uri="{0D108BD9-81ED-4DB2-BD59-A6C34878D82A}">
                    <a16:rowId xmlns:a16="http://schemas.microsoft.com/office/drawing/2014/main" val="721330591"/>
                  </a:ext>
                </a:extLst>
              </a:tr>
              <a:tr h="477683">
                <a:tc>
                  <a:txBody>
                    <a:bodyPr/>
                    <a:lstStyle/>
                    <a:p>
                      <a:pPr algn="l">
                        <a:lnSpc>
                          <a:spcPct val="150000"/>
                        </a:lnSpc>
                        <a:spcAft>
                          <a:spcPts val="1000"/>
                        </a:spcAft>
                        <a:buNone/>
                      </a:pPr>
                      <a:r>
                        <a:rPr lang="en-US" sz="2400">
                          <a:effectLst/>
                        </a:rPr>
                        <a:t>This work</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MEDRICE</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Zynq-7000 (PYNQ-Z1)</a:t>
                      </a:r>
                      <a:endParaRPr lang="en-IN" sz="2400" dirty="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a:effectLst/>
                        </a:rPr>
                        <a:t>4.74 (avg)</a:t>
                      </a:r>
                      <a:endParaRPr lang="en-IN" sz="240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tc>
                  <a:txBody>
                    <a:bodyPr/>
                    <a:lstStyle/>
                    <a:p>
                      <a:pPr algn="l">
                        <a:lnSpc>
                          <a:spcPct val="150000"/>
                        </a:lnSpc>
                        <a:spcAft>
                          <a:spcPts val="1000"/>
                        </a:spcAft>
                        <a:buNone/>
                      </a:pPr>
                      <a:r>
                        <a:rPr lang="en-US" sz="2400" dirty="0">
                          <a:effectLst/>
                        </a:rPr>
                        <a:t>2025</a:t>
                      </a:r>
                      <a:endParaRPr lang="en-IN" sz="2400" dirty="0">
                        <a:effectLst/>
                        <a:latin typeface="Cambria" panose="02040503050406030204" pitchFamily="18" charset="0"/>
                        <a:ea typeface="MS Mincho" panose="02020609040205080304" pitchFamily="49" charset="-128"/>
                        <a:cs typeface="Cambria" panose="02040503050406030204" pitchFamily="18" charset="0"/>
                      </a:endParaRPr>
                    </a:p>
                  </a:txBody>
                  <a:tcPr marL="30783" marR="30783" marT="0" marB="0"/>
                </a:tc>
                <a:extLst>
                  <a:ext uri="{0D108BD9-81ED-4DB2-BD59-A6C34878D82A}">
                    <a16:rowId xmlns:a16="http://schemas.microsoft.com/office/drawing/2014/main" val="3861634351"/>
                  </a:ext>
                </a:extLst>
              </a:tr>
            </a:tbl>
          </a:graphicData>
        </a:graphic>
      </p:graphicFrame>
    </p:spTree>
    <p:extLst>
      <p:ext uri="{BB962C8B-B14F-4D97-AF65-F5344CB8AC3E}">
        <p14:creationId xmlns:p14="http://schemas.microsoft.com/office/powerpoint/2010/main" val="79559883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DC7A8-6E5A-C44F-8DCF-16C181B87386}"/>
            </a:ext>
          </a:extLst>
        </p:cNvPr>
        <p:cNvGrpSpPr/>
        <p:nvPr/>
      </p:nvGrpSpPr>
      <p:grpSpPr>
        <a:xfrm>
          <a:off x="0" y="0"/>
          <a:ext cx="0" cy="0"/>
          <a:chOff x="0" y="0"/>
          <a:chExt cx="0" cy="0"/>
        </a:xfrm>
      </p:grpSpPr>
      <p:sp>
        <p:nvSpPr>
          <p:cNvPr id="138" name="Slide Number Placeholder 4">
            <a:extLst>
              <a:ext uri="{FF2B5EF4-FFF2-40B4-BE49-F238E27FC236}">
                <a16:creationId xmlns:a16="http://schemas.microsoft.com/office/drawing/2014/main" id="{761ED8AC-D537-0DAE-2FBB-37852AF88429}"/>
              </a:ext>
            </a:extLst>
          </p:cNvPr>
          <p:cNvSpPr txBox="1">
            <a:spLocks noGrp="1"/>
          </p:cNvSpPr>
          <p:nvPr>
            <p:ph type="sldNum" sz="quarter" idx="2"/>
          </p:nvPr>
        </p:nvSpPr>
        <p:spPr>
          <a:xfrm>
            <a:off x="12383772" y="9059834"/>
            <a:ext cx="238974" cy="34627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18</a:t>
            </a:fld>
            <a:endParaRPr/>
          </a:p>
        </p:txBody>
      </p:sp>
      <p:sp>
        <p:nvSpPr>
          <p:cNvPr id="139" name="Title 1">
            <a:extLst>
              <a:ext uri="{FF2B5EF4-FFF2-40B4-BE49-F238E27FC236}">
                <a16:creationId xmlns:a16="http://schemas.microsoft.com/office/drawing/2014/main" id="{7D589E50-5CE4-A1D6-B827-6C67AA1BCC1E}"/>
              </a:ext>
            </a:extLst>
          </p:cNvPr>
          <p:cNvSpPr txBox="1">
            <a:spLocks noGrp="1"/>
          </p:cNvSpPr>
          <p:nvPr>
            <p:ph type="title"/>
          </p:nvPr>
        </p:nvSpPr>
        <p:spPr>
          <a:xfrm>
            <a:off x="1625598" y="622261"/>
            <a:ext cx="9753602" cy="914401"/>
          </a:xfrm>
          <a:prstGeom prst="rect">
            <a:avLst/>
          </a:prstGeom>
        </p:spPr>
        <p:txBody>
          <a:bodyPr>
            <a:normAutofit fontScale="90000"/>
          </a:bodyPr>
          <a:lstStyle>
            <a:lvl1pPr>
              <a:defRPr sz="5800" b="1">
                <a:effectLst>
                  <a:outerShdw blurRad="38100" dist="38100" dir="2700000" rotWithShape="0">
                    <a:srgbClr val="000000">
                      <a:alpha val="43137"/>
                    </a:srgbClr>
                  </a:outerShdw>
                </a:effectLst>
                <a:latin typeface="+mn-lt"/>
                <a:ea typeface="+mn-ea"/>
                <a:cs typeface="+mn-cs"/>
                <a:sym typeface="Times New Roman"/>
              </a:defRPr>
            </a:lvl1pPr>
          </a:lstStyle>
          <a:p>
            <a:r>
              <a:rPr lang="en-US" dirty="0"/>
              <a:t>References</a:t>
            </a:r>
            <a:endParaRPr dirty="0"/>
          </a:p>
        </p:txBody>
      </p:sp>
      <p:pic>
        <p:nvPicPr>
          <p:cNvPr id="2" name="Picture 1">
            <a:extLst>
              <a:ext uri="{FF2B5EF4-FFF2-40B4-BE49-F238E27FC236}">
                <a16:creationId xmlns:a16="http://schemas.microsoft.com/office/drawing/2014/main" id="{F4A5201F-966A-0F65-4CF8-8DE6B5B89806}"/>
              </a:ext>
            </a:extLst>
          </p:cNvPr>
          <p:cNvPicPr>
            <a:picLocks noChangeAspect="1"/>
          </p:cNvPicPr>
          <p:nvPr/>
        </p:nvPicPr>
        <p:blipFill>
          <a:blip r:embed="rId2"/>
          <a:stretch>
            <a:fillRect/>
          </a:stretch>
        </p:blipFill>
        <p:spPr>
          <a:xfrm>
            <a:off x="10111408" y="1"/>
            <a:ext cx="2893391" cy="774661"/>
          </a:xfrm>
          <a:prstGeom prst="rect">
            <a:avLst/>
          </a:prstGeom>
        </p:spPr>
      </p:pic>
      <p:sp>
        <p:nvSpPr>
          <p:cNvPr id="4" name="TextBox 3">
            <a:extLst>
              <a:ext uri="{FF2B5EF4-FFF2-40B4-BE49-F238E27FC236}">
                <a16:creationId xmlns:a16="http://schemas.microsoft.com/office/drawing/2014/main" id="{24B82BBB-7DA8-D9FC-88E2-50E11B7F946E}"/>
              </a:ext>
            </a:extLst>
          </p:cNvPr>
          <p:cNvSpPr txBox="1"/>
          <p:nvPr/>
        </p:nvSpPr>
        <p:spPr>
          <a:xfrm>
            <a:off x="346222" y="2158922"/>
            <a:ext cx="12276524" cy="403802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8767" tIns="48767" rIns="48767" bIns="48767" numCol="1" spcCol="38100" rtlCol="0" anchor="t">
            <a:spAutoFit/>
          </a:bodyPr>
          <a:lstStyle/>
          <a:p>
            <a:pPr algn="just"/>
            <a:r>
              <a:rPr lang="en-US" sz="2800" b="1" dirty="0"/>
              <a:t>[1] M. Abramowitz and C. Morimoto,</a:t>
            </a:r>
            <a:r>
              <a:rPr lang="en-US" sz="2800" dirty="0"/>
              <a:t> "An ASIC implementation of the JPEG-LS lossless image compression standard," in Proc. IEEE International Symposium on Circuits and Systems (ISCAS), 2001.</a:t>
            </a:r>
            <a:endParaRPr lang="en-IN" sz="2800" dirty="0"/>
          </a:p>
          <a:p>
            <a:pPr algn="just"/>
            <a:r>
              <a:rPr lang="en-US" sz="2800" b="1" dirty="0"/>
              <a:t>[2] X. Wu and N. Memon,</a:t>
            </a:r>
            <a:r>
              <a:rPr lang="en-US" sz="2800" dirty="0"/>
              <a:t> "Context-based, adaptive, lossless image coding," IEEE Transactions on Communications, vol. 45, no. 4, pp. 437–444, Apr. 1997.</a:t>
            </a:r>
            <a:endParaRPr lang="en-IN" sz="2800" dirty="0"/>
          </a:p>
          <a:p>
            <a:pPr algn="just"/>
            <a:r>
              <a:rPr lang="en-US" sz="2800" b="1" dirty="0"/>
              <a:t>[3] A. Kumar and R. Sharma,</a:t>
            </a:r>
            <a:r>
              <a:rPr lang="en-US" sz="2800" dirty="0"/>
              <a:t> "FPGA implementation of LOCO-I lossless image compression on Xilinx Zynq-7000," in Proc. International Conference on Signal Processing and Communication (ICSC), 2019.</a:t>
            </a:r>
            <a:endParaRPr lang="en-IN" sz="2800" dirty="0"/>
          </a:p>
          <a:p>
            <a:pPr marL="0" marR="0" indent="0" algn="l" defTabSz="1733973" rtl="0" fontAlgn="auto" latinLnBrk="0" hangingPunct="0">
              <a:lnSpc>
                <a:spcPct val="100000"/>
              </a:lnSpc>
              <a:spcBef>
                <a:spcPts val="0"/>
              </a:spcBef>
              <a:spcAft>
                <a:spcPts val="0"/>
              </a:spcAft>
              <a:buClrTx/>
              <a:buSzTx/>
              <a:buFontTx/>
              <a:buNone/>
              <a:tabLst/>
            </a:pPr>
            <a:endParaRPr kumimoji="0" lang="en-IN" sz="3200" b="0" i="0" u="none" strike="noStrike" cap="none" spc="0" normalizeH="0" baseline="0" dirty="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394831149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lide Number Placeholder 4"/>
          <p:cNvSpPr txBox="1">
            <a:spLocks noGrp="1"/>
          </p:cNvSpPr>
          <p:nvPr>
            <p:ph type="sldNum" sz="quarter" idx="2"/>
          </p:nvPr>
        </p:nvSpPr>
        <p:spPr>
          <a:xfrm>
            <a:off x="12394506" y="9143620"/>
            <a:ext cx="367709" cy="3462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19</a:t>
            </a:fld>
            <a:endParaRPr/>
          </a:p>
        </p:txBody>
      </p:sp>
      <p:sp>
        <p:nvSpPr>
          <p:cNvPr id="144" name="Rectangle 5"/>
          <p:cNvSpPr txBox="1"/>
          <p:nvPr/>
        </p:nvSpPr>
        <p:spPr>
          <a:xfrm>
            <a:off x="3334801" y="4273559"/>
            <a:ext cx="6335197" cy="1206482"/>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8767" tIns="48767" rIns="48767" bIns="48767">
            <a:spAutoFit/>
          </a:bodyPr>
          <a:lstStyle>
            <a:lvl1pPr algn="ctr" defTabSz="325120">
              <a:defRPr sz="5800">
                <a:latin typeface="+mn-lt"/>
                <a:ea typeface="+mn-ea"/>
                <a:cs typeface="+mn-cs"/>
                <a:sym typeface="Times New Roman"/>
              </a:defRPr>
            </a:lvl1pPr>
          </a:lstStyle>
          <a:p>
            <a:r>
              <a:rPr sz="7200" b="1" dirty="0"/>
              <a:t>THANK YOU</a:t>
            </a:r>
            <a:r>
              <a:rPr lang="en-IN" sz="7200" b="1" dirty="0"/>
              <a:t> !</a:t>
            </a:r>
            <a:endParaRPr sz="7200" b="1" dirty="0"/>
          </a:p>
        </p:txBody>
      </p:sp>
      <p:pic>
        <p:nvPicPr>
          <p:cNvPr id="2" name="Picture 1">
            <a:extLst>
              <a:ext uri="{FF2B5EF4-FFF2-40B4-BE49-F238E27FC236}">
                <a16:creationId xmlns:a16="http://schemas.microsoft.com/office/drawing/2014/main" id="{9B3C243B-2207-3F7A-4B57-0683916679DC}"/>
              </a:ext>
            </a:extLst>
          </p:cNvPr>
          <p:cNvPicPr>
            <a:picLocks noChangeAspect="1"/>
          </p:cNvPicPr>
          <p:nvPr/>
        </p:nvPicPr>
        <p:blipFill>
          <a:blip r:embed="rId2"/>
          <a:stretch>
            <a:fillRect/>
          </a:stretch>
        </p:blipFill>
        <p:spPr>
          <a:xfrm>
            <a:off x="10111408" y="1"/>
            <a:ext cx="2893391" cy="774661"/>
          </a:xfrm>
          <a:prstGeom prst="rect">
            <a:avLst/>
          </a:prstGeom>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Times New Roman"/>
        <a:ea typeface="Times New Roman"/>
        <a:cs typeface="Times New Roma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25400" dist="12700" dir="5400000" rotWithShape="0">
              <a:srgbClr val="000000">
                <a:alpha val="35000"/>
              </a:srgbClr>
            </a:outerShdw>
          </a:effectLst>
        </a:effectStyle>
        <a:effectStyle>
          <a:effectLst>
            <a:outerShdw blurRad="25400" dist="12700" dir="5400000" rotWithShape="0">
              <a:srgbClr val="000000">
                <a:alpha val="35000"/>
              </a:srgbClr>
            </a:outerShdw>
          </a:effectLst>
        </a:effectStyle>
        <a:effectStyle>
          <a:effectLst>
            <a:outerShdw blurRad="25400" dist="127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round/>
        </a:ln>
        <a:effectLst>
          <a:outerShdw blurRad="25400" dist="12700" dir="5400000" rotWithShape="0">
            <a:srgbClr val="000000">
              <a:alpha val="35000"/>
            </a:srgbClr>
          </a:outerShdw>
        </a:effectLst>
        <a:sp3d/>
      </a:spPr>
      <a:bodyPr rot="0" spcFirstLastPara="1" vertOverflow="overflow" horzOverflow="overflow" vert="horz" wrap="square" lIns="48767" tIns="48767" rIns="48767" bIns="48767" numCol="1" spcCol="38100" rtlCol="0" anchor="ctr">
        <a:spAutoFit/>
      </a:bodyPr>
      <a:lstStyle>
        <a:defPPr marL="0" marR="0" indent="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round/>
        </a:ln>
        <a:effectLst>
          <a:outerShdw blurRad="25400" dist="127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48767" tIns="48767" rIns="48767" bIns="48767" numCol="1" spcCol="38100" rtlCol="0" anchor="t">
        <a:spAutoFit/>
      </a:bodyPr>
      <a:lstStyle>
        <a:defPPr marL="0" marR="0" indent="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Times New Roman"/>
        <a:ea typeface="Times New Roman"/>
        <a:cs typeface="Times New Roma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25400" dist="12700" dir="5400000" rotWithShape="0">
              <a:srgbClr val="000000">
                <a:alpha val="35000"/>
              </a:srgbClr>
            </a:outerShdw>
          </a:effectLst>
        </a:effectStyle>
        <a:effectStyle>
          <a:effectLst>
            <a:outerShdw blurRad="25400" dist="12700" dir="5400000" rotWithShape="0">
              <a:srgbClr val="000000">
                <a:alpha val="35000"/>
              </a:srgbClr>
            </a:outerShdw>
          </a:effectLst>
        </a:effectStyle>
        <a:effectStyle>
          <a:effectLst>
            <a:outerShdw blurRad="25400" dist="127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round/>
        </a:ln>
        <a:effectLst>
          <a:outerShdw blurRad="25400" dist="12700" dir="5400000" rotWithShape="0">
            <a:srgbClr val="000000">
              <a:alpha val="35000"/>
            </a:srgbClr>
          </a:outerShdw>
        </a:effectLst>
        <a:sp3d/>
      </a:spPr>
      <a:bodyPr rot="0" spcFirstLastPara="1" vertOverflow="overflow" horzOverflow="overflow" vert="horz" wrap="square" lIns="48767" tIns="48767" rIns="48767" bIns="48767" numCol="1" spcCol="38100" rtlCol="0" anchor="ctr">
        <a:spAutoFit/>
      </a:bodyPr>
      <a:lstStyle>
        <a:defPPr marL="0" marR="0" indent="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round/>
        </a:ln>
        <a:effectLst>
          <a:outerShdw blurRad="25400" dist="127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48767" tIns="48767" rIns="48767" bIns="48767" numCol="1" spcCol="38100" rtlCol="0" anchor="t">
        <a:spAutoFit/>
      </a:bodyPr>
      <a:lstStyle>
        <a:defPPr marL="0" marR="0" indent="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3563</TotalTime>
  <Words>976</Words>
  <Application>Microsoft Office PowerPoint</Application>
  <PresentationFormat>Custom</PresentationFormat>
  <Paragraphs>275</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Times New Roman</vt:lpstr>
      <vt:lpstr>Office Theme</vt:lpstr>
      <vt:lpstr>Hardware Implementation of Lossless Image Compression</vt:lpstr>
      <vt:lpstr>Abstract</vt:lpstr>
      <vt:lpstr>Objective</vt:lpstr>
      <vt:lpstr>Time Line</vt:lpstr>
      <vt:lpstr>PowerPoint Presentation</vt:lpstr>
      <vt:lpstr>PowerPoint Presentation</vt:lpstr>
      <vt:lpstr>PowerPoint Presentation</vt:lpstr>
      <vt:lpstr>PowerPoint Presentation</vt:lpstr>
      <vt:lpstr>PowerPoint Presentation</vt:lpstr>
      <vt:lpstr>RTL Netlist Synthesis</vt:lpstr>
      <vt:lpstr>PowerPoint Presentation</vt:lpstr>
      <vt:lpstr>Obtained parameters</vt:lpstr>
      <vt:lpstr>Testbench Results</vt:lpstr>
      <vt:lpstr>Testbench Results</vt:lpstr>
      <vt:lpstr>PYNQ Setup and GUI</vt:lpstr>
      <vt:lpstr>FPGA implementation</vt:lpstr>
      <vt:lpstr>Comparison with other works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Dr. SRIDEVI A</dc:creator>
  <cp:lastModifiedBy>Deepan Raj</cp:lastModifiedBy>
  <cp:revision>28</cp:revision>
  <dcterms:modified xsi:type="dcterms:W3CDTF">2026-05-07T04:53:19Z</dcterms:modified>
</cp:coreProperties>
</file>