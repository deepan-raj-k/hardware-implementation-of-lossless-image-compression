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2" r:id="rId5"/>
    <p:sldId id="263" r:id="rId6"/>
    <p:sldId id="266" r:id="rId7"/>
    <p:sldId id="264" r:id="rId8"/>
    <p:sldId id="265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173397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D51ADE6A-740E-44AE-83CC-AE7238B6C88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4A9BC294-FFE2-49D5-8D69-9E1BD2C41BD5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6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33973" latinLnBrk="0">
      <a:defRPr sz="2000">
        <a:latin typeface="+mj-lt"/>
        <a:ea typeface="+mj-ea"/>
        <a:cs typeface="+mj-cs"/>
        <a:sym typeface="Calibri"/>
      </a:defRPr>
    </a:lvl1pPr>
    <a:lvl2pPr indent="228600" defTabSz="1733973" latinLnBrk="0">
      <a:defRPr sz="2000">
        <a:latin typeface="+mj-lt"/>
        <a:ea typeface="+mj-ea"/>
        <a:cs typeface="+mj-cs"/>
        <a:sym typeface="Calibri"/>
      </a:defRPr>
    </a:lvl2pPr>
    <a:lvl3pPr indent="457200" defTabSz="1733973" latinLnBrk="0">
      <a:defRPr sz="2000">
        <a:latin typeface="+mj-lt"/>
        <a:ea typeface="+mj-ea"/>
        <a:cs typeface="+mj-cs"/>
        <a:sym typeface="Calibri"/>
      </a:defRPr>
    </a:lvl3pPr>
    <a:lvl4pPr indent="685800" defTabSz="1733973" latinLnBrk="0">
      <a:defRPr sz="2000">
        <a:latin typeface="+mj-lt"/>
        <a:ea typeface="+mj-ea"/>
        <a:cs typeface="+mj-cs"/>
        <a:sym typeface="Calibri"/>
      </a:defRPr>
    </a:lvl4pPr>
    <a:lvl5pPr indent="914400" defTabSz="1733973" latinLnBrk="0">
      <a:defRPr sz="2000">
        <a:latin typeface="+mj-lt"/>
        <a:ea typeface="+mj-ea"/>
        <a:cs typeface="+mj-cs"/>
        <a:sym typeface="Calibri"/>
      </a:defRPr>
    </a:lvl5pPr>
    <a:lvl6pPr indent="1143000" defTabSz="1733973" latinLnBrk="0">
      <a:defRPr sz="2000">
        <a:latin typeface="+mj-lt"/>
        <a:ea typeface="+mj-ea"/>
        <a:cs typeface="+mj-cs"/>
        <a:sym typeface="Calibri"/>
      </a:defRPr>
    </a:lvl6pPr>
    <a:lvl7pPr indent="1371600" defTabSz="1733973" latinLnBrk="0">
      <a:defRPr sz="2000">
        <a:latin typeface="+mj-lt"/>
        <a:ea typeface="+mj-ea"/>
        <a:cs typeface="+mj-cs"/>
        <a:sym typeface="Calibri"/>
      </a:defRPr>
    </a:lvl7pPr>
    <a:lvl8pPr indent="1600200" defTabSz="1733973" latinLnBrk="0">
      <a:defRPr sz="2000">
        <a:latin typeface="+mj-lt"/>
        <a:ea typeface="+mj-ea"/>
        <a:cs typeface="+mj-cs"/>
        <a:sym typeface="Calibri"/>
      </a:defRPr>
    </a:lvl8pPr>
    <a:lvl9pPr indent="1828800" defTabSz="1733973" latinLnBrk="0">
      <a:defRPr sz="20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2113279" y="2353309"/>
            <a:ext cx="8778242" cy="914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113279" y="3413760"/>
            <a:ext cx="8778242" cy="3620772"/>
          </a:xfrm>
          <a:prstGeom prst="rect">
            <a:avLst/>
          </a:prstGeom>
        </p:spPr>
        <p:txBody>
          <a:bodyPr/>
          <a:lstStyle>
            <a:lvl1pPr marL="364331" indent="-364331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1pPr>
            <a:lvl2pPr marL="804182" indent="-346982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–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2pPr>
            <a:lvl3pPr marL="1238250" indent="-32385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3pPr>
            <a:lvl4pPr marL="1760220" indent="-38862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–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4pPr>
            <a:lvl5pPr marL="2217420" indent="-38862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»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2396066" y="5659121"/>
            <a:ext cx="8290562" cy="1089660"/>
          </a:xfrm>
          <a:prstGeom prst="rect">
            <a:avLst/>
          </a:prstGeom>
        </p:spPr>
        <p:txBody>
          <a:bodyPr anchor="t"/>
          <a:lstStyle>
            <a:lvl1pPr algn="l">
              <a:defRPr sz="72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96066" y="4458970"/>
            <a:ext cx="8290562" cy="1200150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900"/>
              </a:spcBef>
              <a:defRPr sz="3400"/>
            </a:lvl1pPr>
            <a:lvl2pPr algn="l">
              <a:spcBef>
                <a:spcPts val="900"/>
              </a:spcBef>
              <a:defRPr sz="3400"/>
            </a:lvl2pPr>
            <a:lvl3pPr algn="l">
              <a:spcBef>
                <a:spcPts val="900"/>
              </a:spcBef>
              <a:defRPr sz="3400"/>
            </a:lvl3pPr>
            <a:lvl4pPr algn="l">
              <a:spcBef>
                <a:spcPts val="900"/>
              </a:spcBef>
              <a:defRPr sz="3400"/>
            </a:lvl4pPr>
            <a:lvl5pPr algn="l">
              <a:spcBef>
                <a:spcPts val="900"/>
              </a:spcBef>
              <a:defRPr sz="3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2113279" y="2353309"/>
            <a:ext cx="8778241" cy="914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13279" y="3413761"/>
            <a:ext cx="4307841" cy="3620771"/>
          </a:xfrm>
          <a:prstGeom prst="rect">
            <a:avLst/>
          </a:prstGeom>
        </p:spPr>
        <p:txBody>
          <a:bodyPr/>
          <a:lstStyle>
            <a:lvl1pPr marL="612321" indent="-612321" algn="l">
              <a:spcBef>
                <a:spcPts val="1200"/>
              </a:spcBef>
              <a:buSzPct val="100000"/>
              <a:buFont typeface="Arial"/>
              <a:buChar char="•"/>
              <a:defRPr sz="5000">
                <a:solidFill>
                  <a:srgbClr val="000000"/>
                </a:solidFill>
              </a:defRPr>
            </a:lvl1pPr>
            <a:lvl2pPr marL="1052512" indent="-595312" algn="l">
              <a:spcBef>
                <a:spcPts val="1200"/>
              </a:spcBef>
              <a:buSzPct val="100000"/>
              <a:buFont typeface="Arial"/>
              <a:buChar char="–"/>
              <a:defRPr sz="5000">
                <a:solidFill>
                  <a:srgbClr val="000000"/>
                </a:solidFill>
              </a:defRPr>
            </a:lvl2pPr>
            <a:lvl3pPr marL="1485900" indent="-571500" algn="l">
              <a:spcBef>
                <a:spcPts val="1200"/>
              </a:spcBef>
              <a:buSzPct val="100000"/>
              <a:buFont typeface="Arial"/>
              <a:buChar char="•"/>
              <a:defRPr sz="5000">
                <a:solidFill>
                  <a:srgbClr val="000000"/>
                </a:solidFill>
              </a:defRPr>
            </a:lvl3pPr>
            <a:lvl4pPr marL="2006600" indent="-635000" algn="l">
              <a:spcBef>
                <a:spcPts val="1200"/>
              </a:spcBef>
              <a:buSzPct val="100000"/>
              <a:buFont typeface="Arial"/>
              <a:buChar char="–"/>
              <a:defRPr sz="5000">
                <a:solidFill>
                  <a:srgbClr val="000000"/>
                </a:solidFill>
              </a:defRPr>
            </a:lvl4pPr>
            <a:lvl5pPr marL="2463800" indent="-635000" algn="l">
              <a:spcBef>
                <a:spcPts val="1200"/>
              </a:spcBef>
              <a:buSzPct val="100000"/>
              <a:buFont typeface="Arial"/>
              <a:buChar char="»"/>
              <a:defRPr sz="50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2113279" y="2353309"/>
            <a:ext cx="8778241" cy="914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13279" y="3361690"/>
            <a:ext cx="4309535" cy="511811"/>
          </a:xfrm>
          <a:prstGeom prst="rect">
            <a:avLst/>
          </a:prstGeom>
        </p:spPr>
        <p:txBody>
          <a:bodyPr anchor="b"/>
          <a:lstStyle>
            <a:lvl1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lvl1pPr>
            <a:lvl2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lvl2pPr>
            <a:lvl3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lvl3pPr>
            <a:lvl4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lvl4pPr>
            <a:lvl5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580294" y="3361690"/>
            <a:ext cx="4311228" cy="511811"/>
          </a:xfrm>
          <a:prstGeom prst="rect">
            <a:avLst/>
          </a:prstGeom>
          <a:ln w="12700"/>
        </p:spPr>
        <p:txBody>
          <a:bodyPr anchor="b"/>
          <a:lstStyle/>
          <a:p>
            <a:pPr algn="l">
              <a:spcBef>
                <a:spcPts val="1000"/>
              </a:spcBef>
              <a:defRPr sz="42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2113279" y="2353309"/>
            <a:ext cx="8778241" cy="9144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2113280" y="2352039"/>
            <a:ext cx="3208869" cy="929641"/>
          </a:xfrm>
          <a:prstGeom prst="rect">
            <a:avLst/>
          </a:prstGeom>
        </p:spPr>
        <p:txBody>
          <a:bodyPr anchor="b"/>
          <a:lstStyle>
            <a:lvl1pPr algn="l">
              <a:defRPr sz="34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438986" y="2352040"/>
            <a:ext cx="5452535" cy="4682492"/>
          </a:xfrm>
          <a:prstGeom prst="rect">
            <a:avLst/>
          </a:prstGeom>
        </p:spPr>
        <p:txBody>
          <a:bodyPr/>
          <a:lstStyle>
            <a:lvl1pPr marL="364331" indent="-364331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1pPr>
            <a:lvl2pPr marL="804182" indent="-346982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–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2pPr>
            <a:lvl3pPr marL="1238250" indent="-32385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3pPr>
            <a:lvl4pPr marL="1760220" indent="-38862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–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4pPr>
            <a:lvl5pPr marL="2217420" indent="-388620" algn="just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»"/>
              <a:defRPr sz="3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113280" y="3281681"/>
            <a:ext cx="3208869" cy="3752851"/>
          </a:xfrm>
          <a:prstGeom prst="rect">
            <a:avLst/>
          </a:prstGeom>
          <a:ln w="12700"/>
        </p:spPr>
        <p:txBody>
          <a:bodyPr/>
          <a:lstStyle/>
          <a:p>
            <a:pPr algn="l">
              <a:spcBef>
                <a:spcPts val="600"/>
              </a:spcBef>
              <a:defRPr sz="24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3537373" y="5974079"/>
            <a:ext cx="5852161" cy="453392"/>
          </a:xfrm>
          <a:prstGeom prst="rect">
            <a:avLst/>
          </a:prstGeom>
        </p:spPr>
        <p:txBody>
          <a:bodyPr anchor="b"/>
          <a:lstStyle>
            <a:lvl1pPr algn="l">
              <a:defRPr sz="34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537373" y="2623819"/>
            <a:ext cx="5852161" cy="3291841"/>
          </a:xfrm>
          <a:prstGeom prst="rect">
            <a:avLst/>
          </a:prstGeom>
          <a:ln w="12700"/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37373" y="6427470"/>
            <a:ext cx="5852161" cy="64389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1pPr>
            <a:lvl2pPr>
              <a:spcBef>
                <a:spcPts val="6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2pPr>
            <a:lvl3pPr>
              <a:spcBef>
                <a:spcPts val="6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3pPr>
            <a:lvl4pPr>
              <a:spcBef>
                <a:spcPts val="6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4pPr>
            <a:lvl5pPr>
              <a:spcBef>
                <a:spcPts val="600"/>
              </a:spcBef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Times New Roma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1"/>
            <a:ext cx="367710" cy="3462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2357119" y="3837940"/>
            <a:ext cx="8290562" cy="117602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8767" tIns="48767" rIns="48767" bIns="4876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088639" y="5242560"/>
            <a:ext cx="6827522" cy="140208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8767" tIns="48767" rIns="48767" bIns="48767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523811" y="7191592"/>
            <a:ext cx="367710" cy="346278"/>
          </a:xfrm>
          <a:prstGeom prst="rect">
            <a:avLst/>
          </a:prstGeom>
          <a:ln w="3175">
            <a:miter lim="400000"/>
          </a:ln>
        </p:spPr>
        <p:txBody>
          <a:bodyPr wrap="none" lIns="48767" tIns="48767" rIns="48767" bIns="48767" anchor="ctr">
            <a:spAutoFit/>
          </a:bodyPr>
          <a:lstStyle>
            <a:lvl1pPr algn="r">
              <a:defRPr sz="2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0" marR="0" indent="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4572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9144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13716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18288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22860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27432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32004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3657600" algn="ctr" defTabSz="1733973" rtl="0" latinLnBrk="0">
        <a:lnSpc>
          <a:spcPct val="10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888888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173397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iedigitallibrary.org/profile/Ming.Liu-5369865" TargetMode="External"/><Relationship Id="rId7" Type="http://schemas.openxmlformats.org/officeDocument/2006/relationships/hyperlink" Target="https://pubmed.ncbi.nlm.nih.gov/?term=%22Trost%20A%22%5bAuthor%5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?term=%22Gorki%C4%8D%20A%22%5bAuthor%5d" TargetMode="External"/><Relationship Id="rId5" Type="http://schemas.openxmlformats.org/officeDocument/2006/relationships/hyperlink" Target="https://pubmed.ncbi.nlm.nih.gov/?term=%22Regor%C5%A1ek%20%C5%BD%22%5bAuthor%5d" TargetMode="External"/><Relationship Id="rId4" Type="http://schemas.openxmlformats.org/officeDocument/2006/relationships/hyperlink" Target="https://www.spiedigitallibrary.org/profile/Chen.Yang-503513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92" y="7843924"/>
            <a:ext cx="13013584" cy="1917902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4"/>
          <p:cNvSpPr txBox="1"/>
          <p:nvPr/>
        </p:nvSpPr>
        <p:spPr>
          <a:xfrm>
            <a:off x="1205864" y="4905044"/>
            <a:ext cx="5671202" cy="268381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8767" tIns="48767" rIns="48767" bIns="48767">
            <a:spAutoFit/>
          </a:bodyPr>
          <a:lstStyle/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dirty="0"/>
              <a:t>Presented by</a:t>
            </a:r>
            <a:r>
              <a:rPr lang="en-IN" dirty="0"/>
              <a:t>: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IN" dirty="0"/>
              <a:t>Abhishek S R (127160049)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IN" dirty="0"/>
              <a:t>Deepan Raj K (127004058)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IN" dirty="0"/>
              <a:t>Vidhya Vinayaga K G (127004298)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endParaRPr dirty="0"/>
          </a:p>
          <a:p>
            <a:pPr algn="ctr">
              <a:defRPr sz="2400">
                <a:latin typeface="+mn-lt"/>
                <a:ea typeface="+mn-ea"/>
                <a:cs typeface="+mn-cs"/>
                <a:sym typeface="Times New Roman"/>
              </a:defRPr>
            </a:pPr>
            <a:r>
              <a:rPr dirty="0"/>
              <a:t>Department of ECE</a:t>
            </a:r>
          </a:p>
          <a:p>
            <a:pPr algn="ctr">
              <a:defRPr sz="2400">
                <a:latin typeface="+mn-lt"/>
                <a:ea typeface="+mn-ea"/>
                <a:cs typeface="+mn-cs"/>
                <a:sym typeface="Times New Roman"/>
              </a:defRPr>
            </a:pPr>
            <a:r>
              <a:rPr dirty="0"/>
              <a:t>School of EEE</a:t>
            </a:r>
          </a:p>
        </p:txBody>
      </p:sp>
      <p:sp>
        <p:nvSpPr>
          <p:cNvPr id="96" name="TextBox 5"/>
          <p:cNvSpPr txBox="1"/>
          <p:nvPr/>
        </p:nvSpPr>
        <p:spPr>
          <a:xfrm>
            <a:off x="6706164" y="5516662"/>
            <a:ext cx="5105918" cy="157581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8767" tIns="48767" rIns="48767" bIns="48767" anchor="ctr">
            <a:spAutoFit/>
          </a:bodyPr>
          <a:lstStyle/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IN" dirty="0"/>
              <a:t>Mentor: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IN" dirty="0"/>
              <a:t>Dr. Siva J</a:t>
            </a:r>
          </a:p>
          <a:p>
            <a:pPr algn="ctr">
              <a:defRPr sz="24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br>
              <a:rPr lang="en-IN" dirty="0"/>
            </a:br>
            <a:endParaRPr dirty="0"/>
          </a:p>
        </p:txBody>
      </p:sp>
      <p:sp>
        <p:nvSpPr>
          <p:cNvPr id="98" name="Title 1"/>
          <p:cNvSpPr txBox="1">
            <a:spLocks noGrp="1"/>
          </p:cNvSpPr>
          <p:nvPr>
            <p:ph type="ctrTitle"/>
          </p:nvPr>
        </p:nvSpPr>
        <p:spPr>
          <a:xfrm>
            <a:off x="1070190" y="658744"/>
            <a:ext cx="10741892" cy="1176021"/>
          </a:xfrm>
          <a:prstGeom prst="rect">
            <a:avLst/>
          </a:prstGeom>
          <a:effectLst>
            <a:reflection stA="0" endPos="40000" dir="5400000" sy="-100000" algn="bl" rotWithShape="0"/>
          </a:effectLst>
        </p:spPr>
        <p:txBody>
          <a:bodyPr>
            <a:normAutofit fontScale="90000"/>
          </a:bodyPr>
          <a:lstStyle/>
          <a:p>
            <a:pPr defTabSz="1109742">
              <a:defRPr sz="3712" b="1">
                <a:effectLst>
                  <a:outerShdw blurRad="24384" dist="24384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pPr>
            <a:r>
              <a:rPr lang="en-US" dirty="0"/>
              <a:t>HARDWARE IMPLEMENTATION OF LOSSLESS IMAGE COMPRESSION</a:t>
            </a:r>
            <a:endParaRPr dirty="0"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55494" y="7649452"/>
            <a:ext cx="238974" cy="3462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693970-806F-2BCB-EE13-1D9A9FB31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451" y="2302087"/>
            <a:ext cx="8937578" cy="23928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>
            <a:spLocks noGrp="1"/>
          </p:cNvSpPr>
          <p:nvPr>
            <p:ph type="title"/>
          </p:nvPr>
        </p:nvSpPr>
        <p:spPr>
          <a:xfrm>
            <a:off x="1625599" y="282233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rPr dirty="0"/>
              <a:t>Motivation</a:t>
            </a:r>
          </a:p>
        </p:txBody>
      </p:sp>
      <p:sp>
        <p:nvSpPr>
          <p:cNvPr id="10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55707" y="1614913"/>
            <a:ext cx="11841904" cy="7663494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The Problem: Data Overload</a:t>
            </a:r>
          </a:p>
          <a:p>
            <a:r>
              <a:rPr lang="en-US" dirty="0"/>
              <a:t>Modern imaging systems, from surveillance cameras to autonomous vehicles and medical devices, generate </a:t>
            </a:r>
            <a:r>
              <a:rPr lang="en-US" b="1" dirty="0"/>
              <a:t>high-resolution image data at very high rates</a:t>
            </a:r>
            <a:r>
              <a:rPr lang="en-US" dirty="0"/>
              <a:t>.</a:t>
            </a:r>
          </a:p>
          <a:p>
            <a:r>
              <a:rPr lang="en-US" dirty="0"/>
              <a:t>Increased bandwidth requirements</a:t>
            </a:r>
          </a:p>
          <a:p>
            <a:r>
              <a:rPr lang="en-US" dirty="0"/>
              <a:t>High memory usage</a:t>
            </a:r>
          </a:p>
          <a:p>
            <a:r>
              <a:rPr lang="en-US" dirty="0"/>
              <a:t>Latency during transmission and storage</a:t>
            </a:r>
          </a:p>
          <a:p>
            <a:r>
              <a:rPr lang="en-US" dirty="0"/>
              <a:t>Traditional software-based lossless compression methods are </a:t>
            </a:r>
            <a:r>
              <a:rPr lang="en-US" b="1" dirty="0"/>
              <a:t>not optimized for real-time hardware execution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Our Solution: Hardware Acceleration</a:t>
            </a:r>
          </a:p>
          <a:p>
            <a:r>
              <a:rPr lang="en-US" dirty="0"/>
              <a:t>This project aims to deliver a </a:t>
            </a:r>
            <a:r>
              <a:rPr lang="en-US" b="1" dirty="0"/>
              <a:t>low-latency, lossless image compression solution</a:t>
            </a:r>
            <a:r>
              <a:rPr lang="en-US" dirty="0"/>
              <a:t> specifically designed for hardware.</a:t>
            </a:r>
          </a:p>
          <a:p>
            <a:r>
              <a:rPr lang="en-US" dirty="0"/>
              <a:t>Hardware-friendly algorithms suitable for FPGA</a:t>
            </a:r>
          </a:p>
          <a:p>
            <a:r>
              <a:rPr lang="en-US" dirty="0"/>
              <a:t>Deterministic and parallel processing capability</a:t>
            </a:r>
          </a:p>
          <a:p>
            <a:r>
              <a:rPr lang="en-US" dirty="0"/>
              <a:t>Our objective is to design and implement a </a:t>
            </a:r>
            <a:r>
              <a:rPr lang="en-US" b="1" dirty="0"/>
              <a:t>hybrid predictive lossless image compression algorithm</a:t>
            </a:r>
            <a:r>
              <a:rPr lang="en-US" dirty="0"/>
              <a:t>, fully realized in </a:t>
            </a:r>
            <a:r>
              <a:rPr lang="en-US" b="1" dirty="0"/>
              <a:t>Verilog</a:t>
            </a:r>
            <a:r>
              <a:rPr lang="en-US" dirty="0"/>
              <a:t>, capable of real-time operation on FPGA hardware.</a:t>
            </a:r>
          </a:p>
          <a:p>
            <a:endParaRPr lang="en-US" dirty="0"/>
          </a:p>
          <a:p>
            <a:endParaRPr lang="en-US" dirty="0"/>
          </a:p>
          <a:p>
            <a:pPr marL="0" indent="0" algn="l" defTabSz="250342">
              <a:lnSpc>
                <a:spcPct val="120000"/>
              </a:lnSpc>
              <a:buNone/>
              <a:defRPr sz="2618"/>
            </a:pPr>
            <a:endParaRPr b="1" dirty="0"/>
          </a:p>
        </p:txBody>
      </p:sp>
      <p:sp>
        <p:nvSpPr>
          <p:cNvPr id="109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2397611" y="9004479"/>
            <a:ext cx="238973" cy="3462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10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29338" y="-135969"/>
            <a:ext cx="975405" cy="1058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>
            <a:spLocks noGrp="1"/>
          </p:cNvSpPr>
          <p:nvPr>
            <p:ph type="title"/>
          </p:nvPr>
        </p:nvSpPr>
        <p:spPr>
          <a:xfrm>
            <a:off x="1625599" y="282233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rPr dirty="0"/>
              <a:t>Literature survey</a:t>
            </a:r>
          </a:p>
        </p:txBody>
      </p:sp>
      <p:sp>
        <p:nvSpPr>
          <p:cNvPr id="113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2397611" y="9004480"/>
            <a:ext cx="238973" cy="3462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14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29337" y="-135969"/>
            <a:ext cx="975406" cy="105867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719BDE-4EF3-FA41-A10B-AFAC0A4F8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32272"/>
              </p:ext>
            </p:extLst>
          </p:nvPr>
        </p:nvGraphicFramePr>
        <p:xfrm>
          <a:off x="368216" y="1196634"/>
          <a:ext cx="12367122" cy="76644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6440">
                  <a:extLst>
                    <a:ext uri="{9D8B030D-6E8A-4147-A177-3AD203B41FA5}">
                      <a16:colId xmlns:a16="http://schemas.microsoft.com/office/drawing/2014/main" val="3929972138"/>
                    </a:ext>
                  </a:extLst>
                </a:gridCol>
                <a:gridCol w="5214920">
                  <a:extLst>
                    <a:ext uri="{9D8B030D-6E8A-4147-A177-3AD203B41FA5}">
                      <a16:colId xmlns:a16="http://schemas.microsoft.com/office/drawing/2014/main" val="3568224404"/>
                    </a:ext>
                  </a:extLst>
                </a:gridCol>
                <a:gridCol w="3112881">
                  <a:extLst>
                    <a:ext uri="{9D8B030D-6E8A-4147-A177-3AD203B41FA5}">
                      <a16:colId xmlns:a16="http://schemas.microsoft.com/office/drawing/2014/main" val="2090506264"/>
                    </a:ext>
                  </a:extLst>
                </a:gridCol>
                <a:gridCol w="3112881">
                  <a:extLst>
                    <a:ext uri="{9D8B030D-6E8A-4147-A177-3AD203B41FA5}">
                      <a16:colId xmlns:a16="http://schemas.microsoft.com/office/drawing/2014/main" val="1865897067"/>
                    </a:ext>
                  </a:extLst>
                </a:gridCol>
              </a:tblGrid>
              <a:tr h="89791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S.NO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PAPER </a:t>
                      </a:r>
                      <a:r>
                        <a:rPr lang="en-US" b="1"/>
                        <a:t>TITLE/YEAR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KEY CONTRIBUTION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LIMITATION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919272"/>
                  </a:ext>
                </a:extLst>
              </a:tr>
              <a:tr h="1060093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A FPGA implementation scheme for JPEG‐LS lossless compression based on frame difference method</a:t>
                      </a:r>
                    </a:p>
                    <a:p>
                      <a:pPr algn="ctr"/>
                      <a:r>
                        <a:rPr lang="en-US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2025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i="1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Qi Liu</a:t>
                      </a:r>
                      <a:r>
                        <a:rPr lang="en-IN" sz="2000" b="0" i="1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 </a:t>
                      </a:r>
                      <a:r>
                        <a:rPr lang="en-IN" sz="2000" b="0" i="1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3"/>
                        </a:rPr>
                        <a:t>Ming Liu</a:t>
                      </a:r>
                      <a:r>
                        <a:rPr lang="en-IN" sz="2000" b="0" i="1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 </a:t>
                      </a:r>
                      <a:r>
                        <a:rPr lang="en-IN" sz="2000" b="0" i="1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Xiaojie Tong</a:t>
                      </a:r>
                      <a:r>
                        <a:rPr lang="en-IN" sz="2000" b="0" i="1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 </a:t>
                      </a:r>
                      <a:r>
                        <a:rPr lang="en-IN" sz="2000" b="0" i="1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4"/>
                        </a:rPr>
                        <a:t>Chen Yang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Does not handle noisier components/trap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44608"/>
                  </a:ext>
                </a:extLst>
              </a:tr>
              <a:tr h="1034291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733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Parallel Lossless Compression of Raw Bayer Images on FPGA-Based High-Speed Camera</a:t>
                      </a:r>
                    </a:p>
                    <a:p>
                      <a:pPr marL="0" marR="0" lvl="0" indent="0" algn="ctr" defTabSz="1733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2024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u="sng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5"/>
                        </a:rPr>
                        <a:t>Žan</a:t>
                      </a:r>
                      <a:r>
                        <a:rPr lang="en-IN" sz="2000" b="0" i="0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5"/>
                        </a:rPr>
                        <a:t> </a:t>
                      </a:r>
                      <a:r>
                        <a:rPr lang="en-IN" sz="2000" b="0" i="0" u="sng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5"/>
                        </a:rPr>
                        <a:t>Regoršek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  <a:r>
                        <a:rPr lang="en-IN" sz="2000" b="0" i="0" u="none" strike="noStrike" cap="none" spc="0" baseline="3000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 </a:t>
                      </a:r>
                      <a:r>
                        <a:rPr lang="en-IN" sz="2000" b="0" i="0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6"/>
                        </a:rPr>
                        <a:t>Aleš </a:t>
                      </a:r>
                      <a:r>
                        <a:rPr lang="en-IN" sz="2000" b="0" i="0" u="sng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6"/>
                        </a:rPr>
                        <a:t>Gorkič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  <a:r>
                        <a:rPr lang="en-IN" sz="2000" b="0" i="0" u="none" strike="noStrike" cap="none" spc="0" baseline="3000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, </a:t>
                      </a:r>
                      <a:r>
                        <a:rPr lang="en-IN" sz="2000" b="0" i="0" u="sng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  <a:hlinkClick r:id="rId7"/>
                        </a:rPr>
                        <a:t>Andrej Trost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  <a:r>
                        <a:rPr lang="en-IN" sz="2000" b="0" i="0" u="none" strike="noStrike" cap="none" spc="0" baseline="3000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1,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Only applied to </a:t>
                      </a:r>
                      <a:r>
                        <a:rPr lang="en-IN" dirty="0" err="1"/>
                        <a:t>bayer</a:t>
                      </a:r>
                      <a:r>
                        <a:rPr lang="en-IN" dirty="0"/>
                        <a:t> images not grayscale/RGB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253404"/>
                  </a:ext>
                </a:extLst>
              </a:tr>
              <a:tr h="1346567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Lossless Compression Algorithm and Architecture for Reduced Memory Bandwidth Requirement with Improved Prediction Based on the Multiple DPCM Golomb-Rice Algorithm</a:t>
                      </a:r>
                      <a:endParaRPr lang="en-IN" sz="20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  <a:p>
                      <a:pPr algn="ctr"/>
                      <a:r>
                        <a:rPr lang="en-IN" sz="20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2021</a:t>
                      </a:r>
                    </a:p>
                    <a:p>
                      <a:pPr algn="ctr"/>
                      <a:endParaRPr lang="en-US" sz="20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Imjae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 Hwang, Juwon Yun, </a:t>
                      </a:r>
                      <a:r>
                        <a:rPr lang="en-IN" sz="20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Woonam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 Chung, Jaeshin Lee, Cheong-Ghil Kim, </a:t>
                      </a:r>
                      <a:r>
                        <a:rPr lang="en-IN" sz="20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Youngsik</a:t>
                      </a:r>
                      <a:r>
                        <a:rPr lang="en-IN" sz="2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 Kim, Woo-Chan Park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Uses multiple DPCM predictors but not MED predictor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98960"/>
                  </a:ext>
                </a:extLst>
              </a:tr>
              <a:tr h="50751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IMPLEMENTATION OF LOSSLESS IMAGE COMPRESSION USING FUZZY BASED MODIFIED GOLOMB RICE ENCODING</a:t>
                      </a:r>
                    </a:p>
                    <a:p>
                      <a:pPr algn="ctr"/>
                      <a:r>
                        <a:rPr lang="en-US" b="1" i="0" dirty="0"/>
                        <a:t>2023</a:t>
                      </a:r>
                      <a:endParaRPr lang="en-IN" b="1" i="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MD .SANA NOUSHEEN, T.VIJAY KUMAR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More complex 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77256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title"/>
          </p:nvPr>
        </p:nvSpPr>
        <p:spPr>
          <a:xfrm>
            <a:off x="1722471" y="133955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1456537">
              <a:defRPr sz="5880" b="1">
                <a:effectLst>
                  <a:outerShdw blurRad="32004" dist="32004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Abstract</a:t>
            </a:r>
          </a:p>
        </p:txBody>
      </p:sp>
      <p:sp>
        <p:nvSpPr>
          <p:cNvPr id="130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2369933" y="9101351"/>
            <a:ext cx="238973" cy="3462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01660" y="-52936"/>
            <a:ext cx="975405" cy="105867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7C35B8-546F-1B13-9709-878408F7BC7F}"/>
              </a:ext>
            </a:extLst>
          </p:cNvPr>
          <p:cNvSpPr txBox="1"/>
          <p:nvPr/>
        </p:nvSpPr>
        <p:spPr>
          <a:xfrm>
            <a:off x="336176" y="1048356"/>
            <a:ext cx="12272730" cy="797756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8767" tIns="48767" rIns="48767" bIns="48767" numCol="1" spcCol="38100" rtlCol="0" anchor="t">
            <a:spAutoFit/>
          </a:bodyPr>
          <a:lstStyle/>
          <a:p>
            <a:r>
              <a:rPr lang="en-US" dirty="0"/>
              <a:t>● This project focuses on designing a lossless image compression system for hardware implementation.</a:t>
            </a:r>
          </a:p>
          <a:p>
            <a:r>
              <a:rPr lang="en-US" dirty="0"/>
              <a:t>● Hardware-based compression enables real-time processing with low latency. </a:t>
            </a:r>
          </a:p>
          <a:p>
            <a:r>
              <a:rPr lang="en-US" dirty="0"/>
              <a:t>● It also offers higher throughput compared to software-based solutions. ● The proposed method uses predictive coding to estimate pixel values efficiently.</a:t>
            </a:r>
          </a:p>
          <a:p>
            <a:r>
              <a:rPr lang="en-US" dirty="0"/>
              <a:t>● Each pixel is predicted using its neighboring pixels.</a:t>
            </a:r>
          </a:p>
          <a:p>
            <a:r>
              <a:rPr lang="en-US" dirty="0"/>
              <a:t>● Only the difference between the actual and predicted pixel is encoded. ● These prediction errors are generally small in magnitude.</a:t>
            </a:r>
          </a:p>
          <a:p>
            <a:r>
              <a:rPr lang="en-US" dirty="0"/>
              <a:t>● The errors are mapped to non-negative values for efficient encoding.</a:t>
            </a:r>
          </a:p>
          <a:p>
            <a:r>
              <a:rPr lang="en-US" dirty="0"/>
              <a:t>● Golomb–Rice entropy coding is used to compress the error values.</a:t>
            </a:r>
          </a:p>
          <a:p>
            <a:r>
              <a:rPr lang="en-US" dirty="0"/>
              <a:t>● The encoder is implemented using Verilog HDL for parallel execution.</a:t>
            </a:r>
          </a:p>
          <a:p>
            <a:r>
              <a:rPr lang="en-US" dirty="0"/>
              <a:t>● A software decoder is used only for functional verification.</a:t>
            </a:r>
          </a:p>
          <a:p>
            <a:r>
              <a:rPr lang="en-US" dirty="0"/>
              <a:t>● The system achieves pixel-perfect reconstruction with low hardware complexity.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2383772" y="9059834"/>
            <a:ext cx="238973" cy="3462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34" name="Title 1"/>
          <p:cNvSpPr txBox="1">
            <a:spLocks noGrp="1"/>
          </p:cNvSpPr>
          <p:nvPr>
            <p:ph type="title"/>
          </p:nvPr>
        </p:nvSpPr>
        <p:spPr>
          <a:xfrm>
            <a:off x="1625599" y="161633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rPr lang="en-IN" dirty="0"/>
              <a:t>Block Diagram</a:t>
            </a:r>
            <a:endParaRPr dirty="0"/>
          </a:p>
        </p:txBody>
      </p:sp>
      <p:pic>
        <p:nvPicPr>
          <p:cNvPr id="135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15499" y="-80614"/>
            <a:ext cx="975405" cy="105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18212E-7579-1F44-7104-85E17F9C8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91" y="978061"/>
            <a:ext cx="11668818" cy="84251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7428-E7F4-C792-DEB5-07938771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lide Number Placeholder 5">
            <a:extLst>
              <a:ext uri="{FF2B5EF4-FFF2-40B4-BE49-F238E27FC236}">
                <a16:creationId xmlns:a16="http://schemas.microsoft.com/office/drawing/2014/main" id="{ACCA73C2-D28A-366E-635C-662A722546A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383772" y="9059834"/>
            <a:ext cx="238973" cy="34627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34" name="Title 1">
            <a:extLst>
              <a:ext uri="{FF2B5EF4-FFF2-40B4-BE49-F238E27FC236}">
                <a16:creationId xmlns:a16="http://schemas.microsoft.com/office/drawing/2014/main" id="{A615A4DA-BC6F-8D7C-853B-547548B961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5599" y="161633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rPr lang="en-IN" dirty="0"/>
              <a:t>Block Diagram</a:t>
            </a:r>
            <a:endParaRPr dirty="0"/>
          </a:p>
        </p:txBody>
      </p:sp>
      <p:pic>
        <p:nvPicPr>
          <p:cNvPr id="135" name="pasted-movie.png" descr="pasted-movie.png">
            <a:extLst>
              <a:ext uri="{FF2B5EF4-FFF2-40B4-BE49-F238E27FC236}">
                <a16:creationId xmlns:a16="http://schemas.microsoft.com/office/drawing/2014/main" id="{86732DF4-F92C-49E2-C485-36B61295FC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15499" y="-80614"/>
            <a:ext cx="975405" cy="105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20F9E7-8AB8-D451-3B72-ED74F99A9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84" y="978061"/>
            <a:ext cx="11599431" cy="842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324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2383772" y="9059834"/>
            <a:ext cx="238974" cy="3462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39" name="Title 1"/>
          <p:cNvSpPr txBox="1">
            <a:spLocks noGrp="1"/>
          </p:cNvSpPr>
          <p:nvPr>
            <p:ph type="title"/>
          </p:nvPr>
        </p:nvSpPr>
        <p:spPr>
          <a:xfrm>
            <a:off x="1625599" y="331933"/>
            <a:ext cx="9753602" cy="914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58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Time Line</a:t>
            </a:r>
          </a:p>
        </p:txBody>
      </p:sp>
      <p:pic>
        <p:nvPicPr>
          <p:cNvPr id="140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12015499" y="-52936"/>
            <a:ext cx="975405" cy="105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074D7-D764-20B7-E17C-4A5B515EA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3" y="789133"/>
            <a:ext cx="12906497" cy="87501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2394506" y="9143620"/>
            <a:ext cx="367709" cy="3462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44" name="Rectangle 5"/>
          <p:cNvSpPr txBox="1"/>
          <p:nvPr/>
        </p:nvSpPr>
        <p:spPr>
          <a:xfrm>
            <a:off x="4282080" y="4845252"/>
            <a:ext cx="4440640" cy="91714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8767" tIns="48767" rIns="48767" bIns="48767">
            <a:spAutoFit/>
          </a:bodyPr>
          <a:lstStyle>
            <a:lvl1pPr algn="ctr" defTabSz="325120">
              <a:defRPr sz="5800"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THANK YOU</a:t>
            </a:r>
          </a:p>
        </p:txBody>
      </p:sp>
      <p:pic>
        <p:nvPicPr>
          <p:cNvPr id="145" name="pasted-movie.png" descr="pasted-movie.png"/>
          <p:cNvPicPr>
            <a:picLocks noChangeAspect="1"/>
          </p:cNvPicPr>
          <p:nvPr/>
        </p:nvPicPr>
        <p:blipFill>
          <a:blip r:embed="rId2"/>
          <a:srcRect l="7865"/>
          <a:stretch>
            <a:fillRect/>
          </a:stretch>
        </p:blipFill>
        <p:spPr>
          <a:xfrm>
            <a:off x="4930180" y="1245650"/>
            <a:ext cx="3368247" cy="36557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8767" tIns="48767" rIns="48767" bIns="48767" numCol="1" spcCol="38100" rtlCol="0" anchor="ctr">
        <a:spAutoFit/>
      </a:bodyPr>
      <a:lstStyle>
        <a:defPPr marL="0" marR="0" indent="0" algn="l" defTabSz="173397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t">
        <a:spAutoFit/>
      </a:bodyPr>
      <a:lstStyle>
        <a:defPPr marL="0" marR="0" indent="0" algn="l" defTabSz="173397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25400" dist="127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8767" tIns="48767" rIns="48767" bIns="48767" numCol="1" spcCol="38100" rtlCol="0" anchor="ctr">
        <a:spAutoFit/>
      </a:bodyPr>
      <a:lstStyle>
        <a:defPPr marL="0" marR="0" indent="0" algn="l" defTabSz="173397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>
          <a:outerShdw blurRad="25400" dist="127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48767" tIns="48767" rIns="48767" bIns="48767" numCol="1" spcCol="38100" rtlCol="0" anchor="t">
        <a:spAutoFit/>
      </a:bodyPr>
      <a:lstStyle>
        <a:defPPr marL="0" marR="0" indent="0" algn="l" defTabSz="173397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10744</TotalTime>
  <Words>471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HARDWARE IMPLEMENTATION OF LOSSLESS IMAGE COMPRESSION</vt:lpstr>
      <vt:lpstr>Motivation</vt:lpstr>
      <vt:lpstr>Literature survey</vt:lpstr>
      <vt:lpstr>Abstract</vt:lpstr>
      <vt:lpstr>Block Diagram</vt:lpstr>
      <vt:lpstr>Block Diagram</vt:lpstr>
      <vt:lpstr>Time 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SRIDEVI A</dc:creator>
  <cp:lastModifiedBy>Deepan Raj</cp:lastModifiedBy>
  <cp:revision>16</cp:revision>
  <dcterms:modified xsi:type="dcterms:W3CDTF">2026-02-11T15:24:05Z</dcterms:modified>
</cp:coreProperties>
</file>